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bE9yi7fEOP/L64xjmrEJQCBec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26755" autoAdjust="0"/>
  </p:normalViewPr>
  <p:slideViewPr>
    <p:cSldViewPr snapToGrid="0">
      <p:cViewPr varScale="1">
        <p:scale>
          <a:sx n="39" d="100"/>
          <a:sy n="39" d="100"/>
        </p:scale>
        <p:origin x="3684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0:00 – 1:05 | The Autopilot Morning: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"It’s 8:15 AM on a Wednesday.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know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window—you’ve just sat down,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laptop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docked,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you’re in that 'autopilot' mode of triaging emails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meetings start to stack up.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a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energy utility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in 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Pennsylvania,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an engineer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named Dave is looking for a way to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get ahead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of his To-Do list.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Dave isn't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looking for a fight.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He’s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not looking for a 'threat.'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He’s 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just looking to clear his queue.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that’s when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he sees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it.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An Outlook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notification.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It’s marked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'Urgent,' and the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line reads: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‘Harrisburg Infrastructure Assessment – Action Required.’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Now,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Dave doesn't hesitate.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Why would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he?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He was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working on the Harrisburg project yesterday.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email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is from a vendor he’s known for five years. </a:t>
            </a:r>
            <a:r>
              <a:rPr lang="en-US" sz="1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Everything</a:t>
            </a:r>
            <a:r>
              <a:rPr lang="en-US" sz="1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about this feels like a normal part of a productive morning."</a:t>
            </a:r>
            <a:endParaRPr sz="1400" b="0" dirty="0">
              <a:highlight>
                <a:srgbClr val="FFFF00"/>
              </a:highlight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1:05 – 2:10 | The "Slow-Motion" Click: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 clicks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link.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doesn't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 a 'Warning: Malicious Site' banner.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 browser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doesn't stutter.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He’s taken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 SharePoint login page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 perfect.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branding,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fonts,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'Privacy' links at the bottom—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there.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types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 username.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types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 password.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He’s not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being 'tricked' by a fake site;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looking at a live-stream of the real Microsoft.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then,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push notification hits his phone. 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Ping.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muscle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memory.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doesn't even look away from his monitor;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just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reaches down,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taps 'Approve,'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goes back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his coffee.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document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opens—a 40-page PDF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infrastructure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Dave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spends ten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minutes reviewing it,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tab,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moves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to his next task."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 sz="1400" b="0" dirty="0"/>
            </a:b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2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:10 – 3:08 | The Forensic Reveal &amp; The Metaphor: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"But while Dave is reading that PDF,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something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happening in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 proxy server.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didn't just 'pass him through.'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him.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9:30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AM,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 still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his password,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attacker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Dave’s identity.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I call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'Invisible Valet.'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Think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valet works.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doesn't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want your keys;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wants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your car.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stands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you and the restaurant.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hand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him your car,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drives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to the real valet,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gets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real claim ticket,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hands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back to you.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walk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dinner thinking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car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safe.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Meanwhile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'Invisible Valet' has already made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copy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your 'All-Access' pass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is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driving your car out of the lot."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3:08 – 3:43 | The Authority Bridge: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"I’m Joel Prentice.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I’m a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Cybersecurity Engineer,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I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spend my days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the gaps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our 'Padlocks' and our reality.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Today,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are going to go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hood of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'Invisible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Valet.'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going to dismantle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engine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proxy,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packet,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I’m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going to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 why in 2026,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'Same Watering Holes'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every day—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SharePoint,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Teams, and Outlook—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been turned into the perfect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systems for a new breed of lure."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3:43 –  3:58 | [Transition]: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"So, Dave’s car is gone.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 identity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cloned.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how?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not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because our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broken.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our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a massive,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structural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blind spot."</a:t>
            </a:r>
            <a:endParaRPr sz="14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3:58 – 4:30 | The Transition: The Protocol Blind Spot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We’ve</a:t>
            </a:r>
            <a:r>
              <a:rPr lang="en-US" sz="1400" dirty="0">
                <a:solidFill>
                  <a:schemeClr val="dk1"/>
                </a:solidFill>
              </a:rPr>
              <a:t> spent a decade telling </a:t>
            </a:r>
            <a:r>
              <a:rPr lang="en-US" sz="1400" b="1" dirty="0">
                <a:solidFill>
                  <a:schemeClr val="dk1"/>
                </a:solidFill>
              </a:rPr>
              <a:t>our boards </a:t>
            </a:r>
            <a:r>
              <a:rPr lang="en-US" sz="1400" dirty="0">
                <a:solidFill>
                  <a:schemeClr val="dk1"/>
                </a:solidFill>
              </a:rPr>
              <a:t>that MFA is the finish line—</a:t>
            </a:r>
            <a:r>
              <a:rPr lang="en-US" sz="1400" b="1" dirty="0">
                <a:solidFill>
                  <a:schemeClr val="dk1"/>
                </a:solidFill>
              </a:rPr>
              <a:t>that if</a:t>
            </a:r>
            <a:r>
              <a:rPr lang="en-US" sz="1400" dirty="0">
                <a:solidFill>
                  <a:schemeClr val="dk1"/>
                </a:solidFill>
              </a:rPr>
              <a:t> we just get to 100% enrollment, </a:t>
            </a:r>
            <a:r>
              <a:rPr lang="en-US" sz="1400" b="1" dirty="0">
                <a:solidFill>
                  <a:schemeClr val="dk1"/>
                </a:solidFill>
              </a:rPr>
              <a:t>the game</a:t>
            </a:r>
            <a:r>
              <a:rPr lang="en-US" sz="1400" dirty="0">
                <a:solidFill>
                  <a:schemeClr val="dk1"/>
                </a:solidFill>
              </a:rPr>
              <a:t> is over. </a:t>
            </a:r>
            <a:r>
              <a:rPr lang="en-US" sz="1400" b="1" dirty="0">
                <a:solidFill>
                  <a:schemeClr val="dk1"/>
                </a:solidFill>
              </a:rPr>
              <a:t>But in 2026</a:t>
            </a:r>
            <a:r>
              <a:rPr lang="en-US" sz="1400" dirty="0">
                <a:solidFill>
                  <a:schemeClr val="dk1"/>
                </a:solidFill>
              </a:rPr>
              <a:t>, we have to admit</a:t>
            </a:r>
            <a:r>
              <a:rPr lang="en-US" sz="1400" b="1" dirty="0">
                <a:solidFill>
                  <a:schemeClr val="dk1"/>
                </a:solidFill>
              </a:rPr>
              <a:t> that compliance</a:t>
            </a:r>
            <a:r>
              <a:rPr lang="en-US" sz="1400" dirty="0">
                <a:solidFill>
                  <a:schemeClr val="dk1"/>
                </a:solidFill>
              </a:rPr>
              <a:t> is just the floor. </a:t>
            </a:r>
            <a:r>
              <a:rPr lang="en-US" sz="1400" b="1" dirty="0">
                <a:solidFill>
                  <a:schemeClr val="dk1"/>
                </a:solidFill>
              </a:rPr>
              <a:t>We are</a:t>
            </a:r>
            <a:r>
              <a:rPr lang="en-US" sz="1400" dirty="0">
                <a:solidFill>
                  <a:schemeClr val="dk1"/>
                </a:solidFill>
              </a:rPr>
              <a:t> building massive </a:t>
            </a:r>
            <a:r>
              <a:rPr lang="en-US" sz="1400" b="1" dirty="0">
                <a:solidFill>
                  <a:schemeClr val="dk1"/>
                </a:solidFill>
              </a:rPr>
              <a:t>security stacks</a:t>
            </a:r>
            <a:r>
              <a:rPr lang="en-US" sz="1400" dirty="0">
                <a:solidFill>
                  <a:schemeClr val="dk1"/>
                </a:solidFill>
              </a:rPr>
              <a:t> on top of a foundation </a:t>
            </a:r>
            <a:r>
              <a:rPr lang="en-US" sz="1400" b="1" dirty="0">
                <a:solidFill>
                  <a:schemeClr val="dk1"/>
                </a:solidFill>
              </a:rPr>
              <a:t>that is </a:t>
            </a:r>
            <a:r>
              <a:rPr lang="en-US" sz="1400" dirty="0">
                <a:solidFill>
                  <a:schemeClr val="dk1"/>
                </a:solidFill>
              </a:rPr>
              <a:t>fundamentally 'context-blind.' </a:t>
            </a:r>
            <a:r>
              <a:rPr lang="en-US" sz="1400" b="1" dirty="0">
                <a:solidFill>
                  <a:schemeClr val="dk1"/>
                </a:solidFill>
              </a:rPr>
              <a:t>Dave did</a:t>
            </a:r>
            <a:r>
              <a:rPr lang="en-US" sz="1400" dirty="0">
                <a:solidFill>
                  <a:schemeClr val="dk1"/>
                </a:solidFill>
              </a:rPr>
              <a:t> everything we taught him to do,</a:t>
            </a:r>
            <a:r>
              <a:rPr lang="en-US" sz="1400" b="1" dirty="0">
                <a:solidFill>
                  <a:schemeClr val="dk1"/>
                </a:solidFill>
              </a:rPr>
              <a:t> but the</a:t>
            </a:r>
            <a:r>
              <a:rPr lang="en-US" sz="1400" dirty="0">
                <a:solidFill>
                  <a:schemeClr val="dk1"/>
                </a:solidFill>
              </a:rPr>
              <a:t> physics of the connection were rigged against him from the start.</a:t>
            </a:r>
            <a:endParaRPr sz="1400" dirty="0">
              <a:solidFill>
                <a:srgbClr val="434343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4:30 – 5:54 | The $20 Bill &amp; The Hunter’s Prize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At the heart</a:t>
            </a:r>
            <a:r>
              <a:rPr lang="en-US" sz="1400" dirty="0">
                <a:solidFill>
                  <a:schemeClr val="dk1"/>
                </a:solidFill>
              </a:rPr>
              <a:t> of this is how we handle identity. </a:t>
            </a:r>
            <a:r>
              <a:rPr lang="en-US" sz="1400" b="1" dirty="0">
                <a:solidFill>
                  <a:schemeClr val="dk1"/>
                </a:solidFill>
              </a:rPr>
              <a:t>Most MFA</a:t>
            </a:r>
            <a:r>
              <a:rPr lang="en-US" sz="1400" dirty="0">
                <a:solidFill>
                  <a:schemeClr val="dk1"/>
                </a:solidFill>
              </a:rPr>
              <a:t> we use—Push, SMS, or those </a:t>
            </a:r>
            <a:r>
              <a:rPr lang="en-US" sz="1400" b="1" dirty="0">
                <a:solidFill>
                  <a:schemeClr val="dk1"/>
                </a:solidFill>
              </a:rPr>
              <a:t>6-digit</a:t>
            </a:r>
            <a:r>
              <a:rPr lang="en-US" sz="1400" dirty="0">
                <a:solidFill>
                  <a:schemeClr val="dk1"/>
                </a:solidFill>
              </a:rPr>
              <a:t> codes—ends with the server </a:t>
            </a:r>
            <a:r>
              <a:rPr lang="en-US" sz="1400" b="1" dirty="0">
                <a:solidFill>
                  <a:schemeClr val="dk1"/>
                </a:solidFill>
              </a:rPr>
              <a:t>handing the</a:t>
            </a:r>
            <a:r>
              <a:rPr lang="en-US" sz="1400" dirty="0">
                <a:solidFill>
                  <a:schemeClr val="dk1"/>
                </a:solidFill>
              </a:rPr>
              <a:t> user a </a:t>
            </a:r>
            <a:r>
              <a:rPr lang="en-US" sz="1400" b="1" dirty="0">
                <a:solidFill>
                  <a:schemeClr val="dk1"/>
                </a:solidFill>
              </a:rPr>
              <a:t>Bearer Token</a:t>
            </a:r>
            <a:r>
              <a:rPr lang="en-US" sz="1400" dirty="0">
                <a:solidFill>
                  <a:schemeClr val="dk1"/>
                </a:solidFill>
              </a:rPr>
              <a:t>. I </a:t>
            </a:r>
            <a:r>
              <a:rPr lang="en-US" sz="1400" b="1" dirty="0">
                <a:solidFill>
                  <a:schemeClr val="dk1"/>
                </a:solidFill>
              </a:rPr>
              <a:t>want you</a:t>
            </a:r>
            <a:r>
              <a:rPr lang="en-US" sz="1400" dirty="0">
                <a:solidFill>
                  <a:schemeClr val="dk1"/>
                </a:solidFill>
              </a:rPr>
              <a:t> to think of this like a $20 bill. </a:t>
            </a:r>
            <a:r>
              <a:rPr lang="en-US" sz="1400" b="1" dirty="0">
                <a:solidFill>
                  <a:schemeClr val="dk1"/>
                </a:solidFill>
              </a:rPr>
              <a:t>If I</a:t>
            </a:r>
            <a:r>
              <a:rPr lang="en-US" sz="1400" dirty="0">
                <a:solidFill>
                  <a:schemeClr val="dk1"/>
                </a:solidFill>
              </a:rPr>
              <a:t> drop this bill in the hallway </a:t>
            </a:r>
            <a:r>
              <a:rPr lang="en-US" sz="1400" b="1" dirty="0">
                <a:solidFill>
                  <a:schemeClr val="dk1"/>
                </a:solidFill>
              </a:rPr>
              <a:t>here at</a:t>
            </a:r>
            <a:r>
              <a:rPr lang="en-US" sz="1400" dirty="0">
                <a:solidFill>
                  <a:schemeClr val="dk1"/>
                </a:solidFill>
              </a:rPr>
              <a:t> the PA Farm Show complex </a:t>
            </a:r>
            <a:r>
              <a:rPr lang="en-US" sz="1400" b="1" dirty="0">
                <a:solidFill>
                  <a:schemeClr val="dk1"/>
                </a:solidFill>
              </a:rPr>
              <a:t>and you</a:t>
            </a:r>
            <a:r>
              <a:rPr lang="en-US" sz="1400" dirty="0">
                <a:solidFill>
                  <a:schemeClr val="dk1"/>
                </a:solidFill>
              </a:rPr>
              <a:t> pick it up, it’s yours. </a:t>
            </a:r>
            <a:r>
              <a:rPr lang="en-US" sz="1400" b="1" dirty="0">
                <a:solidFill>
                  <a:schemeClr val="dk1"/>
                </a:solidFill>
              </a:rPr>
              <a:t>The guy</a:t>
            </a:r>
            <a:r>
              <a:rPr lang="en-US" sz="1400" dirty="0">
                <a:solidFill>
                  <a:schemeClr val="dk1"/>
                </a:solidFill>
              </a:rPr>
              <a:t> selling coffee doesn't care who I am; </a:t>
            </a:r>
            <a:r>
              <a:rPr lang="en-US" sz="1400" b="1" dirty="0">
                <a:solidFill>
                  <a:schemeClr val="dk1"/>
                </a:solidFill>
              </a:rPr>
              <a:t>he just</a:t>
            </a:r>
            <a:r>
              <a:rPr lang="en-US" sz="1400" dirty="0">
                <a:solidFill>
                  <a:schemeClr val="dk1"/>
                </a:solidFill>
              </a:rPr>
              <a:t> cares that </a:t>
            </a:r>
            <a:r>
              <a:rPr lang="en-US" sz="1400" b="1" dirty="0">
                <a:solidFill>
                  <a:schemeClr val="dk1"/>
                </a:solidFill>
              </a:rPr>
              <a:t>you’re holding</a:t>
            </a:r>
            <a:r>
              <a:rPr lang="en-US" sz="1400" dirty="0">
                <a:solidFill>
                  <a:schemeClr val="dk1"/>
                </a:solidFill>
              </a:rPr>
              <a:t> the cash.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In a</a:t>
            </a:r>
            <a:r>
              <a:rPr lang="en-US" sz="1400" dirty="0">
                <a:solidFill>
                  <a:schemeClr val="dk1"/>
                </a:solidFill>
              </a:rPr>
              <a:t> Microsoft environment, </a:t>
            </a:r>
            <a:r>
              <a:rPr lang="en-US" sz="1400" b="1" dirty="0">
                <a:solidFill>
                  <a:schemeClr val="dk1"/>
                </a:solidFill>
              </a:rPr>
              <a:t>the proxy</a:t>
            </a:r>
            <a:r>
              <a:rPr lang="en-US" sz="1400" dirty="0">
                <a:solidFill>
                  <a:schemeClr val="dk1"/>
                </a:solidFill>
              </a:rPr>
              <a:t> is hunting for one specific piece of </a:t>
            </a:r>
            <a:r>
              <a:rPr lang="en-US" sz="1400" b="1" dirty="0">
                <a:solidFill>
                  <a:schemeClr val="dk1"/>
                </a:solidFill>
              </a:rPr>
              <a:t>'digital cash'</a:t>
            </a:r>
            <a:r>
              <a:rPr lang="en-US" sz="1400" dirty="0">
                <a:solidFill>
                  <a:schemeClr val="dk1"/>
                </a:solidFill>
              </a:rPr>
              <a:t>: the</a:t>
            </a:r>
            <a:r>
              <a:rPr lang="en-US" sz="1400" dirty="0">
                <a:solidFill>
                  <a:srgbClr val="434343"/>
                </a:solidFill>
              </a:rPr>
              <a:t> 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ESTSAUTHPERSISTENT</a:t>
            </a:r>
            <a:r>
              <a:rPr lang="en-US" sz="1400" dirty="0">
                <a:solidFill>
                  <a:srgbClr val="434343"/>
                </a:solidFill>
              </a:rPr>
              <a:t> </a:t>
            </a:r>
            <a:r>
              <a:rPr lang="en-US" sz="1400" dirty="0">
                <a:solidFill>
                  <a:schemeClr val="dk1"/>
                </a:solidFill>
              </a:rPr>
              <a:t>cookie. </a:t>
            </a:r>
            <a:r>
              <a:rPr lang="en-US" sz="1400" b="1" dirty="0">
                <a:solidFill>
                  <a:schemeClr val="dk1"/>
                </a:solidFill>
              </a:rPr>
              <a:t>This isn't</a:t>
            </a:r>
            <a:r>
              <a:rPr lang="en-US" sz="1400" dirty="0">
                <a:solidFill>
                  <a:schemeClr val="dk1"/>
                </a:solidFill>
              </a:rPr>
              <a:t> just a random string; </a:t>
            </a:r>
            <a:r>
              <a:rPr lang="en-US" sz="1400" b="1" dirty="0">
                <a:solidFill>
                  <a:schemeClr val="dk1"/>
                </a:solidFill>
              </a:rPr>
              <a:t>it’s a </a:t>
            </a:r>
            <a:r>
              <a:rPr lang="en-US" sz="1400" dirty="0">
                <a:solidFill>
                  <a:schemeClr val="dk1"/>
                </a:solidFill>
              </a:rPr>
              <a:t>signed blob </a:t>
            </a:r>
            <a:r>
              <a:rPr lang="en-US" sz="1400" b="1" dirty="0">
                <a:solidFill>
                  <a:schemeClr val="dk1"/>
                </a:solidFill>
              </a:rPr>
              <a:t>that tells</a:t>
            </a:r>
            <a:r>
              <a:rPr lang="en-US" sz="1400" dirty="0">
                <a:solidFill>
                  <a:schemeClr val="dk1"/>
                </a:solidFill>
              </a:rPr>
              <a:t> the cloud: </a:t>
            </a:r>
            <a:r>
              <a:rPr lang="en-US" sz="1400" b="1" dirty="0">
                <a:solidFill>
                  <a:schemeClr val="dk1"/>
                </a:solidFill>
              </a:rPr>
              <a:t>'This user</a:t>
            </a:r>
            <a:r>
              <a:rPr lang="en-US" sz="1400" dirty="0">
                <a:solidFill>
                  <a:schemeClr val="dk1"/>
                </a:solidFill>
              </a:rPr>
              <a:t> has already proven </a:t>
            </a:r>
            <a:r>
              <a:rPr lang="en-US" sz="1400" b="1" dirty="0">
                <a:solidFill>
                  <a:schemeClr val="dk1"/>
                </a:solidFill>
              </a:rPr>
              <a:t>they have</a:t>
            </a:r>
            <a:r>
              <a:rPr lang="en-US" sz="1400" dirty="0">
                <a:solidFill>
                  <a:schemeClr val="dk1"/>
                </a:solidFill>
              </a:rPr>
              <a:t> the password and</a:t>
            </a:r>
            <a:r>
              <a:rPr lang="en-US" sz="1400" b="1" dirty="0">
                <a:solidFill>
                  <a:schemeClr val="dk1"/>
                </a:solidFill>
              </a:rPr>
              <a:t> passed the</a:t>
            </a:r>
            <a:r>
              <a:rPr lang="en-US" sz="1400" dirty="0">
                <a:solidFill>
                  <a:schemeClr val="dk1"/>
                </a:solidFill>
              </a:rPr>
              <a:t> MFA gate.' </a:t>
            </a:r>
            <a:r>
              <a:rPr lang="en-US" sz="1400" b="1" dirty="0">
                <a:solidFill>
                  <a:schemeClr val="dk1"/>
                </a:solidFill>
              </a:rPr>
              <a:t>To an</a:t>
            </a:r>
            <a:r>
              <a:rPr lang="en-US" sz="1400" dirty="0">
                <a:solidFill>
                  <a:schemeClr val="dk1"/>
                </a:solidFill>
              </a:rPr>
              <a:t> attacker, this </a:t>
            </a:r>
            <a:r>
              <a:rPr lang="en-US" sz="1400" b="1" dirty="0">
                <a:solidFill>
                  <a:schemeClr val="dk1"/>
                </a:solidFill>
              </a:rPr>
              <a:t>cookie</a:t>
            </a:r>
            <a:r>
              <a:rPr lang="en-US" sz="1400" dirty="0">
                <a:solidFill>
                  <a:schemeClr val="dk1"/>
                </a:solidFill>
              </a:rPr>
              <a:t> is worth more than the password. </a:t>
            </a:r>
            <a:r>
              <a:rPr lang="en-US" sz="1400" b="1" dirty="0">
                <a:solidFill>
                  <a:schemeClr val="dk1"/>
                </a:solidFill>
              </a:rPr>
              <a:t>Because it</a:t>
            </a:r>
            <a:r>
              <a:rPr lang="en-US" sz="1400" dirty="0">
                <a:solidFill>
                  <a:schemeClr val="dk1"/>
                </a:solidFill>
              </a:rPr>
              <a:t> isn't </a:t>
            </a:r>
            <a:r>
              <a:rPr lang="en-US" sz="1400" b="1" dirty="0">
                <a:solidFill>
                  <a:schemeClr val="dk1"/>
                </a:solidFill>
              </a:rPr>
              <a:t>'Sender-Constrained,'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</a:rPr>
              <a:t>the attacker</a:t>
            </a:r>
            <a:r>
              <a:rPr lang="en-US" sz="1400" dirty="0">
                <a:solidFill>
                  <a:schemeClr val="dk1"/>
                </a:solidFill>
              </a:rPr>
              <a:t> doesn't need to 'hack' anything—</a:t>
            </a:r>
            <a:r>
              <a:rPr lang="en-US" sz="1400" b="1" dirty="0">
                <a:solidFill>
                  <a:schemeClr val="dk1"/>
                </a:solidFill>
              </a:rPr>
              <a:t>they just</a:t>
            </a:r>
            <a:r>
              <a:rPr lang="en-US" sz="1400" dirty="0">
                <a:solidFill>
                  <a:schemeClr val="dk1"/>
                </a:solidFill>
              </a:rPr>
              <a:t> have to 'bear' the token. </a:t>
            </a:r>
            <a:r>
              <a:rPr lang="en-US" sz="1400" b="1" dirty="0">
                <a:solidFill>
                  <a:schemeClr val="dk1"/>
                </a:solidFill>
              </a:rPr>
              <a:t>They pluck</a:t>
            </a:r>
            <a:r>
              <a:rPr lang="en-US" sz="1400" dirty="0">
                <a:solidFill>
                  <a:schemeClr val="dk1"/>
                </a:solidFill>
              </a:rPr>
              <a:t> it out of the air in Pennsylvania and </a:t>
            </a:r>
            <a:r>
              <a:rPr lang="en-US" sz="1400" b="1" dirty="0">
                <a:solidFill>
                  <a:schemeClr val="dk1"/>
                </a:solidFill>
              </a:rPr>
              <a:t>spend it</a:t>
            </a:r>
            <a:r>
              <a:rPr lang="en-US" sz="1400" dirty="0">
                <a:solidFill>
                  <a:schemeClr val="dk1"/>
                </a:solidFill>
              </a:rPr>
              <a:t> in a data center halfway across the world. </a:t>
            </a:r>
            <a:r>
              <a:rPr lang="en-US" sz="1400" b="1" dirty="0">
                <a:solidFill>
                  <a:schemeClr val="dk1"/>
                </a:solidFill>
              </a:rPr>
              <a:t>To the </a:t>
            </a:r>
            <a:r>
              <a:rPr lang="en-US" sz="1400" dirty="0">
                <a:solidFill>
                  <a:schemeClr val="dk1"/>
                </a:solidFill>
              </a:rPr>
              <a:t>server, that’s not a hack;</a:t>
            </a:r>
            <a:r>
              <a:rPr lang="en-US" sz="1400" b="1" dirty="0">
                <a:solidFill>
                  <a:schemeClr val="dk1"/>
                </a:solidFill>
              </a:rPr>
              <a:t> that’s just</a:t>
            </a:r>
            <a:r>
              <a:rPr lang="en-US" sz="1400" dirty="0">
                <a:solidFill>
                  <a:schemeClr val="dk1"/>
                </a:solidFill>
              </a:rPr>
              <a:t> a guy with a twenty.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5:54 – 6:48 | The Two-Channel Forensic Gap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Now, why</a:t>
            </a:r>
            <a:r>
              <a:rPr lang="en-US" sz="1400" dirty="0">
                <a:solidFill>
                  <a:schemeClr val="dk1"/>
                </a:solidFill>
              </a:rPr>
              <a:t> didn't Dave's phone warn him? It’s </a:t>
            </a:r>
            <a:r>
              <a:rPr lang="en-US" sz="1400" b="1" dirty="0">
                <a:solidFill>
                  <a:schemeClr val="dk1"/>
                </a:solidFill>
              </a:rPr>
              <a:t>the gap</a:t>
            </a:r>
            <a:r>
              <a:rPr lang="en-US" sz="1400" dirty="0">
                <a:solidFill>
                  <a:schemeClr val="dk1"/>
                </a:solidFill>
              </a:rPr>
              <a:t> between the Front and Back channels.</a:t>
            </a:r>
            <a:r>
              <a:rPr lang="en-US" sz="1400" b="1" dirty="0">
                <a:solidFill>
                  <a:schemeClr val="dk1"/>
                </a:solidFill>
              </a:rPr>
              <a:t> Dave lives</a:t>
            </a:r>
            <a:r>
              <a:rPr lang="en-US" sz="1400" dirty="0">
                <a:solidFill>
                  <a:schemeClr val="dk1"/>
                </a:solidFill>
              </a:rPr>
              <a:t> in the 'Front-Channel'—the browser. </a:t>
            </a:r>
            <a:r>
              <a:rPr lang="en-US" sz="1400" b="1" dirty="0">
                <a:solidFill>
                  <a:schemeClr val="dk1"/>
                </a:solidFill>
              </a:rPr>
              <a:t>But the</a:t>
            </a:r>
            <a:r>
              <a:rPr lang="en-US" sz="1400" dirty="0">
                <a:solidFill>
                  <a:schemeClr val="dk1"/>
                </a:solidFill>
              </a:rPr>
              <a:t> real 'handshake' happens in the </a:t>
            </a:r>
            <a:r>
              <a:rPr lang="en-US" sz="1400" b="1" dirty="0">
                <a:solidFill>
                  <a:schemeClr val="dk1"/>
                </a:solidFill>
              </a:rPr>
              <a:t>'Back-Channel'</a:t>
            </a:r>
            <a:r>
              <a:rPr lang="en-US" sz="1400" dirty="0">
                <a:solidFill>
                  <a:schemeClr val="dk1"/>
                </a:solidFill>
              </a:rPr>
              <a:t> between the</a:t>
            </a:r>
            <a:r>
              <a:rPr lang="en-US" sz="1400" b="1" dirty="0">
                <a:solidFill>
                  <a:schemeClr val="dk1"/>
                </a:solidFill>
              </a:rPr>
              <a:t> server and the</a:t>
            </a:r>
            <a:r>
              <a:rPr lang="en-US" sz="1400" dirty="0">
                <a:solidFill>
                  <a:schemeClr val="dk1"/>
                </a:solidFill>
              </a:rPr>
              <a:t> Identity Provider. </a:t>
            </a:r>
            <a:r>
              <a:rPr lang="en-US" sz="1400" b="1" dirty="0">
                <a:solidFill>
                  <a:schemeClr val="dk1"/>
                </a:solidFill>
              </a:rPr>
              <a:t>When that</a:t>
            </a:r>
            <a:r>
              <a:rPr lang="en-US" sz="1400" dirty="0">
                <a:solidFill>
                  <a:schemeClr val="dk1"/>
                </a:solidFill>
              </a:rPr>
              <a:t> push notification hit Dave’s phone at </a:t>
            </a:r>
            <a:r>
              <a:rPr lang="en-US" sz="1400" b="1" dirty="0">
                <a:solidFill>
                  <a:schemeClr val="dk1"/>
                </a:solidFill>
              </a:rPr>
              <a:t>8:15 AM</a:t>
            </a:r>
            <a:r>
              <a:rPr lang="en-US" sz="1400" dirty="0">
                <a:solidFill>
                  <a:schemeClr val="dk1"/>
                </a:solidFill>
              </a:rPr>
              <a:t>, it asked: 'Are you trying to sign in?' </a:t>
            </a:r>
            <a:r>
              <a:rPr lang="en-US" sz="1400" b="1" dirty="0">
                <a:solidFill>
                  <a:schemeClr val="dk1"/>
                </a:solidFill>
              </a:rPr>
              <a:t>It’s a </a:t>
            </a:r>
            <a:r>
              <a:rPr lang="en-US" sz="1400" dirty="0">
                <a:solidFill>
                  <a:schemeClr val="dk1"/>
                </a:solidFill>
              </a:rPr>
              <a:t>simple binary question. </a:t>
            </a:r>
            <a:r>
              <a:rPr lang="en-US" sz="1400" b="1" dirty="0">
                <a:solidFill>
                  <a:schemeClr val="dk1"/>
                </a:solidFill>
              </a:rPr>
              <a:t>It didn't</a:t>
            </a:r>
            <a:r>
              <a:rPr lang="en-US" sz="1400" dirty="0">
                <a:solidFill>
                  <a:schemeClr val="dk1"/>
                </a:solidFill>
              </a:rPr>
              <a:t> mention the proxy. </a:t>
            </a:r>
            <a:r>
              <a:rPr lang="en-US" sz="1400" b="1" dirty="0">
                <a:solidFill>
                  <a:schemeClr val="dk1"/>
                </a:solidFill>
              </a:rPr>
              <a:t>It didn't</a:t>
            </a:r>
            <a:r>
              <a:rPr lang="en-US" sz="1400" dirty="0">
                <a:solidFill>
                  <a:schemeClr val="dk1"/>
                </a:solidFill>
              </a:rPr>
              <a:t> mention that the request was </a:t>
            </a:r>
            <a:r>
              <a:rPr lang="en-US" sz="1400" b="1" dirty="0">
                <a:solidFill>
                  <a:schemeClr val="dk1"/>
                </a:solidFill>
              </a:rPr>
              <a:t>routed</a:t>
            </a:r>
            <a:r>
              <a:rPr lang="en-US" sz="1400" dirty="0">
                <a:solidFill>
                  <a:schemeClr val="dk1"/>
                </a:solidFill>
              </a:rPr>
              <a:t> through</a:t>
            </a:r>
            <a:r>
              <a:rPr lang="en-US" sz="1400" b="1" dirty="0">
                <a:solidFill>
                  <a:schemeClr val="dk1"/>
                </a:solidFill>
              </a:rPr>
              <a:t> a malicious</a:t>
            </a:r>
            <a:r>
              <a:rPr lang="en-US" sz="1400" dirty="0">
                <a:solidFill>
                  <a:schemeClr val="dk1"/>
                </a:solidFill>
              </a:rPr>
              <a:t> middleman. </a:t>
            </a:r>
            <a:r>
              <a:rPr lang="en-US" sz="1400" b="1" dirty="0">
                <a:solidFill>
                  <a:schemeClr val="dk1"/>
                </a:solidFill>
              </a:rPr>
              <a:t>The phone</a:t>
            </a:r>
            <a:r>
              <a:rPr lang="en-US" sz="1400" dirty="0">
                <a:solidFill>
                  <a:schemeClr val="dk1"/>
                </a:solidFill>
              </a:rPr>
              <a:t> has zero cryptographic</a:t>
            </a:r>
            <a:r>
              <a:rPr lang="en-US" sz="1400" b="1" dirty="0">
                <a:solidFill>
                  <a:schemeClr val="dk1"/>
                </a:solidFill>
              </a:rPr>
              <a:t> proof </a:t>
            </a:r>
            <a:r>
              <a:rPr lang="en-US" sz="1400" dirty="0">
                <a:solidFill>
                  <a:schemeClr val="dk1"/>
                </a:solidFill>
              </a:rPr>
              <a:t>of the </a:t>
            </a:r>
            <a:r>
              <a:rPr lang="en-US" sz="1400" b="1" dirty="0">
                <a:solidFill>
                  <a:schemeClr val="dk1"/>
                </a:solidFill>
              </a:rPr>
              <a:t>Origin URL</a:t>
            </a:r>
            <a:r>
              <a:rPr lang="en-US" sz="1400" dirty="0">
                <a:solidFill>
                  <a:schemeClr val="dk1"/>
                </a:solidFill>
              </a:rPr>
              <a:t>. We </a:t>
            </a:r>
            <a:r>
              <a:rPr lang="en-US" sz="1400" b="1" dirty="0">
                <a:solidFill>
                  <a:schemeClr val="dk1"/>
                </a:solidFill>
              </a:rPr>
              <a:t>are asking</a:t>
            </a:r>
            <a:r>
              <a:rPr lang="en-US" sz="1400" dirty="0">
                <a:solidFill>
                  <a:schemeClr val="dk1"/>
                </a:solidFill>
              </a:rPr>
              <a:t> our employees to make </a:t>
            </a:r>
            <a:r>
              <a:rPr lang="en-US" sz="1400" b="1" dirty="0">
                <a:solidFill>
                  <a:schemeClr val="dk1"/>
                </a:solidFill>
              </a:rPr>
              <a:t>high-stakes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</a:rPr>
              <a:t>forensic</a:t>
            </a:r>
            <a:r>
              <a:rPr lang="en-US" sz="1400" dirty="0">
                <a:solidFill>
                  <a:schemeClr val="dk1"/>
                </a:solidFill>
              </a:rPr>
              <a:t> decisions based on a 'Yes/No' button </a:t>
            </a:r>
            <a:r>
              <a:rPr lang="en-US" sz="1400" b="1" dirty="0">
                <a:solidFill>
                  <a:schemeClr val="dk1"/>
                </a:solidFill>
              </a:rPr>
              <a:t>that is </a:t>
            </a:r>
            <a:r>
              <a:rPr lang="en-US" sz="1400" dirty="0">
                <a:solidFill>
                  <a:schemeClr val="dk1"/>
                </a:solidFill>
              </a:rPr>
              <a:t>functionally blind to the network metadata.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6:48 – 9:32 | The Persistence Trap &amp; The Resident Proxy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And then</a:t>
            </a:r>
            <a:r>
              <a:rPr lang="en-US" sz="1400" dirty="0">
                <a:solidFill>
                  <a:schemeClr val="dk1"/>
                </a:solidFill>
              </a:rPr>
              <a:t> we have the Persistence Trap. </a:t>
            </a:r>
            <a:r>
              <a:rPr lang="en-US" sz="1400" b="1" dirty="0">
                <a:solidFill>
                  <a:schemeClr val="dk1"/>
                </a:solidFill>
              </a:rPr>
              <a:t>We’ve all</a:t>
            </a:r>
            <a:r>
              <a:rPr lang="en-US" sz="1400" dirty="0">
                <a:solidFill>
                  <a:schemeClr val="dk1"/>
                </a:solidFill>
              </a:rPr>
              <a:t> set those 14-day session windows</a:t>
            </a:r>
            <a:r>
              <a:rPr lang="en-US" sz="1400" b="1" dirty="0">
                <a:solidFill>
                  <a:schemeClr val="dk1"/>
                </a:solidFill>
              </a:rPr>
              <a:t> because</a:t>
            </a:r>
            <a:r>
              <a:rPr lang="en-US" sz="1400" dirty="0">
                <a:solidFill>
                  <a:schemeClr val="dk1"/>
                </a:solidFill>
              </a:rPr>
              <a:t> we don't want to get yelled at about 'MFA Fatigue.' </a:t>
            </a:r>
            <a:r>
              <a:rPr lang="en-US" sz="1400" b="1" dirty="0">
                <a:solidFill>
                  <a:schemeClr val="dk1"/>
                </a:solidFill>
              </a:rPr>
              <a:t>Attackers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i="1" dirty="0">
                <a:solidFill>
                  <a:schemeClr val="dk1"/>
                </a:solidFill>
              </a:rPr>
              <a:t>love</a:t>
            </a:r>
            <a:r>
              <a:rPr lang="en-US" sz="1400" dirty="0">
                <a:solidFill>
                  <a:schemeClr val="dk1"/>
                </a:solidFill>
              </a:rPr>
              <a:t> our convenience. </a:t>
            </a:r>
            <a:r>
              <a:rPr lang="en-US" sz="1400" b="1" dirty="0">
                <a:solidFill>
                  <a:schemeClr val="dk1"/>
                </a:solidFill>
              </a:rPr>
              <a:t>You</a:t>
            </a:r>
            <a:r>
              <a:rPr lang="en-US" sz="1400" dirty="0">
                <a:solidFill>
                  <a:schemeClr val="dk1"/>
                </a:solidFill>
              </a:rPr>
              <a:t> might think your 'Impossible </a:t>
            </a:r>
            <a:r>
              <a:rPr lang="en-US" sz="1400" b="1" dirty="0">
                <a:solidFill>
                  <a:schemeClr val="dk1"/>
                </a:solidFill>
              </a:rPr>
              <a:t>Travel' logic</a:t>
            </a:r>
            <a:r>
              <a:rPr lang="en-US" sz="1400" dirty="0">
                <a:solidFill>
                  <a:schemeClr val="dk1"/>
                </a:solidFill>
              </a:rPr>
              <a:t> would catch this, </a:t>
            </a:r>
            <a:r>
              <a:rPr lang="en-US" sz="1400" b="1" dirty="0">
                <a:solidFill>
                  <a:schemeClr val="dk1"/>
                </a:solidFill>
              </a:rPr>
              <a:t>but</a:t>
            </a:r>
            <a:r>
              <a:rPr lang="en-US" sz="1400" dirty="0">
                <a:solidFill>
                  <a:schemeClr val="dk1"/>
                </a:solidFill>
              </a:rPr>
              <a:t> the adversary has evolved. </a:t>
            </a:r>
            <a:r>
              <a:rPr lang="en-US" sz="1400" b="1" dirty="0">
                <a:solidFill>
                  <a:schemeClr val="dk1"/>
                </a:solidFill>
              </a:rPr>
              <a:t>They</a:t>
            </a:r>
            <a:r>
              <a:rPr lang="en-US" sz="1400" dirty="0">
                <a:solidFill>
                  <a:schemeClr val="dk1"/>
                </a:solidFill>
              </a:rPr>
              <a:t> aren't 'spending' that </a:t>
            </a:r>
            <a:r>
              <a:rPr lang="en-US" sz="1400" b="1" dirty="0">
                <a:solidFill>
                  <a:schemeClr val="dk1"/>
                </a:solidFill>
              </a:rPr>
              <a:t>digital cash</a:t>
            </a:r>
            <a:r>
              <a:rPr lang="en-US" sz="1400" dirty="0">
                <a:solidFill>
                  <a:schemeClr val="dk1"/>
                </a:solidFill>
              </a:rPr>
              <a:t> from a known-bad data center. </a:t>
            </a:r>
            <a:r>
              <a:rPr lang="en-US" sz="1400" b="1" dirty="0">
                <a:solidFill>
                  <a:schemeClr val="dk1"/>
                </a:solidFill>
              </a:rPr>
              <a:t>They</a:t>
            </a:r>
            <a:r>
              <a:rPr lang="en-US" sz="1400" dirty="0">
                <a:solidFill>
                  <a:schemeClr val="dk1"/>
                </a:solidFill>
              </a:rPr>
              <a:t> are using </a:t>
            </a:r>
            <a:r>
              <a:rPr lang="en-US" sz="1400" b="1" dirty="0">
                <a:solidFill>
                  <a:schemeClr val="dk1"/>
                </a:solidFill>
              </a:rPr>
              <a:t>Residential Proxy Networks</a:t>
            </a:r>
            <a:r>
              <a:rPr lang="en-US" sz="1400" dirty="0">
                <a:solidFill>
                  <a:schemeClr val="dk1"/>
                </a:solidFill>
              </a:rPr>
              <a:t>, </a:t>
            </a:r>
            <a:r>
              <a:rPr lang="en-US" sz="1400" b="1" dirty="0">
                <a:solidFill>
                  <a:schemeClr val="dk1"/>
                </a:solidFill>
              </a:rPr>
              <a:t>routing</a:t>
            </a:r>
            <a:r>
              <a:rPr lang="en-US" sz="1400" dirty="0">
                <a:solidFill>
                  <a:schemeClr val="dk1"/>
                </a:solidFill>
              </a:rPr>
              <a:t> that stolen cookie through </a:t>
            </a:r>
            <a:r>
              <a:rPr lang="en-US" sz="1400" b="1" dirty="0">
                <a:solidFill>
                  <a:schemeClr val="dk1"/>
                </a:solidFill>
              </a:rPr>
              <a:t>a hijacked</a:t>
            </a:r>
            <a:r>
              <a:rPr lang="en-US" sz="1400" dirty="0">
                <a:solidFill>
                  <a:schemeClr val="dk1"/>
                </a:solidFill>
              </a:rPr>
              <a:t> home router in a </a:t>
            </a:r>
            <a:r>
              <a:rPr lang="en-US" sz="1400" b="1" dirty="0">
                <a:solidFill>
                  <a:schemeClr val="dk1"/>
                </a:solidFill>
              </a:rPr>
              <a:t>neighborhood</a:t>
            </a:r>
            <a:r>
              <a:rPr lang="en-US" sz="1400" dirty="0">
                <a:solidFill>
                  <a:schemeClr val="dk1"/>
                </a:solidFill>
              </a:rPr>
              <a:t> three miles away from your office. </a:t>
            </a:r>
            <a:r>
              <a:rPr lang="en-US" sz="1400" b="1" dirty="0">
                <a:solidFill>
                  <a:schemeClr val="dk1"/>
                </a:solidFill>
              </a:rPr>
              <a:t>To </a:t>
            </a:r>
            <a:r>
              <a:rPr lang="en-US" sz="1400" dirty="0">
                <a:solidFill>
                  <a:schemeClr val="dk1"/>
                </a:solidFill>
              </a:rPr>
              <a:t>your logs, it doesn't look like an attack.</a:t>
            </a:r>
            <a:r>
              <a:rPr lang="en-US" sz="1400" b="1" dirty="0">
                <a:solidFill>
                  <a:schemeClr val="dk1"/>
                </a:solidFill>
              </a:rPr>
              <a:t> It just</a:t>
            </a:r>
            <a:r>
              <a:rPr lang="en-US" sz="1400" dirty="0">
                <a:solidFill>
                  <a:schemeClr val="dk1"/>
                </a:solidFill>
              </a:rPr>
              <a:t> looks like Dave decided to </a:t>
            </a:r>
            <a:r>
              <a:rPr lang="en-US" sz="1400" b="1" dirty="0">
                <a:solidFill>
                  <a:schemeClr val="dk1"/>
                </a:solidFill>
              </a:rPr>
              <a:t>check his email</a:t>
            </a:r>
            <a:r>
              <a:rPr lang="en-US" sz="1400" dirty="0">
                <a:solidFill>
                  <a:schemeClr val="dk1"/>
                </a:solidFill>
              </a:rPr>
              <a:t> from a Starbucks down the street. </a:t>
            </a:r>
            <a:r>
              <a:rPr lang="en-US" sz="1400" b="1" dirty="0">
                <a:solidFill>
                  <a:schemeClr val="dk1"/>
                </a:solidFill>
              </a:rPr>
              <a:t>Dave’s </a:t>
            </a:r>
            <a:r>
              <a:rPr lang="en-US" sz="1400" dirty="0">
                <a:solidFill>
                  <a:schemeClr val="dk1"/>
                </a:solidFill>
              </a:rPr>
              <a:t>'one-second' mistake becomes the attacker’s 'month-long' residency.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Think about</a:t>
            </a:r>
            <a:r>
              <a:rPr lang="en-US" sz="1400" dirty="0">
                <a:solidFill>
                  <a:schemeClr val="dk1"/>
                </a:solidFill>
              </a:rPr>
              <a:t> the math of that. </a:t>
            </a:r>
            <a:r>
              <a:rPr lang="en-US" sz="1400" b="1" dirty="0">
                <a:solidFill>
                  <a:schemeClr val="dk1"/>
                </a:solidFill>
              </a:rPr>
              <a:t>We spend</a:t>
            </a:r>
            <a:r>
              <a:rPr lang="en-US" sz="1400" dirty="0">
                <a:solidFill>
                  <a:schemeClr val="dk1"/>
                </a:solidFill>
              </a:rPr>
              <a:t> millions on EDR to catch a </a:t>
            </a:r>
            <a:r>
              <a:rPr lang="en-US" sz="1400" b="1" dirty="0">
                <a:solidFill>
                  <a:schemeClr val="dk1"/>
                </a:solidFill>
              </a:rPr>
              <a:t>process</a:t>
            </a:r>
            <a:r>
              <a:rPr lang="en-US" sz="1400" dirty="0">
                <a:solidFill>
                  <a:schemeClr val="dk1"/>
                </a:solidFill>
              </a:rPr>
              <a:t> that runs for three seconds, </a:t>
            </a:r>
            <a:r>
              <a:rPr lang="en-US" sz="1400" b="1" dirty="0">
                <a:solidFill>
                  <a:schemeClr val="dk1"/>
                </a:solidFill>
              </a:rPr>
              <a:t>but we’re</a:t>
            </a:r>
            <a:r>
              <a:rPr lang="en-US" sz="1400" dirty="0">
                <a:solidFill>
                  <a:schemeClr val="dk1"/>
                </a:solidFill>
              </a:rPr>
              <a:t> willing to let a stolen session</a:t>
            </a:r>
            <a:r>
              <a:rPr lang="en-US" sz="1400" b="1" dirty="0">
                <a:solidFill>
                  <a:schemeClr val="dk1"/>
                </a:solidFill>
              </a:rPr>
              <a:t> cookie</a:t>
            </a:r>
            <a:r>
              <a:rPr lang="en-US" sz="1400" dirty="0">
                <a:solidFill>
                  <a:schemeClr val="dk1"/>
                </a:solidFill>
              </a:rPr>
              <a:t> live for </a:t>
            </a:r>
            <a:r>
              <a:rPr lang="en-US" sz="1400" b="1" dirty="0">
                <a:solidFill>
                  <a:schemeClr val="dk1"/>
                </a:solidFill>
              </a:rPr>
              <a:t>1,209,600 seconds.</a:t>
            </a:r>
            <a:r>
              <a:rPr lang="en-US" sz="1400" dirty="0">
                <a:solidFill>
                  <a:schemeClr val="dk1"/>
                </a:solidFill>
              </a:rPr>
              <a:t> "Think about what that</a:t>
            </a:r>
            <a:r>
              <a:rPr lang="en-US" sz="1400" b="1" dirty="0">
                <a:solidFill>
                  <a:schemeClr val="dk1"/>
                </a:solidFill>
              </a:rPr>
              <a:t> number</a:t>
            </a:r>
            <a:r>
              <a:rPr lang="en-US" sz="1400" dirty="0">
                <a:solidFill>
                  <a:schemeClr val="dk1"/>
                </a:solidFill>
              </a:rPr>
              <a:t> actually represents: </a:t>
            </a:r>
            <a:r>
              <a:rPr lang="en-US" sz="1400" b="1" dirty="0">
                <a:solidFill>
                  <a:schemeClr val="dk1"/>
                </a:solidFill>
              </a:rPr>
              <a:t>1,209,600 seconds.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</a:rPr>
              <a:t>As</a:t>
            </a:r>
            <a:r>
              <a:rPr lang="en-US" sz="1400" dirty="0">
                <a:solidFill>
                  <a:schemeClr val="dk1"/>
                </a:solidFill>
              </a:rPr>
              <a:t> security teams, </a:t>
            </a:r>
            <a:r>
              <a:rPr lang="en-US" sz="1400" b="1" dirty="0">
                <a:solidFill>
                  <a:schemeClr val="dk1"/>
                </a:solidFill>
              </a:rPr>
              <a:t>we deploy</a:t>
            </a:r>
            <a:r>
              <a:rPr lang="en-US" sz="1400" dirty="0">
                <a:solidFill>
                  <a:schemeClr val="dk1"/>
                </a:solidFill>
              </a:rPr>
              <a:t> Endpoint Detection and Response (EDR) platforms </a:t>
            </a:r>
            <a:r>
              <a:rPr lang="en-US" sz="1400" b="1" dirty="0">
                <a:solidFill>
                  <a:schemeClr val="dk1"/>
                </a:solidFill>
              </a:rPr>
              <a:t>to alert</a:t>
            </a:r>
            <a:r>
              <a:rPr lang="en-US" sz="1400" dirty="0">
                <a:solidFill>
                  <a:schemeClr val="dk1"/>
                </a:solidFill>
              </a:rPr>
              <a:t> on a malicious </a:t>
            </a:r>
            <a:r>
              <a:rPr lang="en-US" sz="1400" b="1" dirty="0">
                <a:solidFill>
                  <a:schemeClr val="dk1"/>
                </a:solidFill>
              </a:rPr>
              <a:t>PowerShell process</a:t>
            </a:r>
            <a:r>
              <a:rPr lang="en-US" sz="1400" dirty="0">
                <a:solidFill>
                  <a:schemeClr val="dk1"/>
                </a:solidFill>
              </a:rPr>
              <a:t> executing in three seconds. </a:t>
            </a:r>
            <a:r>
              <a:rPr lang="en-US" sz="1400" b="1" dirty="0">
                <a:solidFill>
                  <a:schemeClr val="dk1"/>
                </a:solidFill>
              </a:rPr>
              <a:t>We</a:t>
            </a:r>
            <a:r>
              <a:rPr lang="en-US" sz="1400" dirty="0">
                <a:solidFill>
                  <a:schemeClr val="dk1"/>
                </a:solidFill>
              </a:rPr>
              <a:t> configure </a:t>
            </a:r>
            <a:r>
              <a:rPr lang="en-US" sz="1400" b="1" dirty="0">
                <a:solidFill>
                  <a:schemeClr val="dk1"/>
                </a:solidFill>
              </a:rPr>
              <a:t>our SIEMs </a:t>
            </a:r>
            <a:r>
              <a:rPr lang="en-US" sz="1400" dirty="0">
                <a:solidFill>
                  <a:schemeClr val="dk1"/>
                </a:solidFill>
              </a:rPr>
              <a:t>to fire rules if an anomalous service </a:t>
            </a:r>
            <a:r>
              <a:rPr lang="en-US" sz="1400" b="1" dirty="0">
                <a:solidFill>
                  <a:schemeClr val="dk1"/>
                </a:solidFill>
              </a:rPr>
              <a:t>account</a:t>
            </a:r>
            <a:r>
              <a:rPr lang="en-US" sz="1400" dirty="0">
                <a:solidFill>
                  <a:schemeClr val="dk1"/>
                </a:solidFill>
              </a:rPr>
              <a:t> behaves weirdly for a minute. </a:t>
            </a:r>
            <a:r>
              <a:rPr lang="en-US" sz="1400" b="1" dirty="0">
                <a:solidFill>
                  <a:schemeClr val="dk1"/>
                </a:solidFill>
              </a:rPr>
              <a:t>Yet,</a:t>
            </a:r>
            <a:r>
              <a:rPr lang="en-US" sz="1400" dirty="0">
                <a:solidFill>
                  <a:schemeClr val="dk1"/>
                </a:solidFill>
              </a:rPr>
              <a:t> the foundational protocol </a:t>
            </a:r>
            <a:r>
              <a:rPr lang="en-US" sz="1400" b="1" dirty="0">
                <a:solidFill>
                  <a:schemeClr val="dk1"/>
                </a:solidFill>
              </a:rPr>
              <a:t>architecture</a:t>
            </a:r>
            <a:r>
              <a:rPr lang="en-US" sz="1400" dirty="0">
                <a:solidFill>
                  <a:schemeClr val="dk1"/>
                </a:solidFill>
              </a:rPr>
              <a:t> we rely on</a:t>
            </a:r>
            <a:r>
              <a:rPr lang="en-US" sz="1400" b="1" dirty="0">
                <a:solidFill>
                  <a:schemeClr val="dk1"/>
                </a:solidFill>
              </a:rPr>
              <a:t> is completely</a:t>
            </a:r>
            <a:r>
              <a:rPr lang="en-US" sz="1400" dirty="0">
                <a:solidFill>
                  <a:schemeClr val="dk1"/>
                </a:solidFill>
              </a:rPr>
              <a:t> content </a:t>
            </a:r>
            <a:r>
              <a:rPr lang="en-US" sz="1400" b="1" dirty="0">
                <a:solidFill>
                  <a:schemeClr val="dk1"/>
                </a:solidFill>
              </a:rPr>
              <a:t>to</a:t>
            </a:r>
            <a:r>
              <a:rPr lang="en-US" sz="1400" dirty="0">
                <a:solidFill>
                  <a:schemeClr val="dk1"/>
                </a:solidFill>
              </a:rPr>
              <a:t> let a single, stolen, unconstrained</a:t>
            </a:r>
            <a:r>
              <a:rPr lang="en-US" sz="1400" b="1" dirty="0">
                <a:solidFill>
                  <a:schemeClr val="dk1"/>
                </a:solidFill>
              </a:rPr>
              <a:t> string</a:t>
            </a:r>
            <a:r>
              <a:rPr lang="en-US" sz="1400" dirty="0">
                <a:solidFill>
                  <a:schemeClr val="dk1"/>
                </a:solidFill>
              </a:rPr>
              <a:t> of </a:t>
            </a:r>
            <a:r>
              <a:rPr lang="en-US" sz="1400" b="1" dirty="0">
                <a:solidFill>
                  <a:schemeClr val="dk1"/>
                </a:solidFill>
              </a:rPr>
              <a:t>cryptographic</a:t>
            </a:r>
            <a:r>
              <a:rPr lang="en-US" sz="1400" dirty="0">
                <a:solidFill>
                  <a:schemeClr val="dk1"/>
                </a:solidFill>
              </a:rPr>
              <a:t> text walk out the door and maintain </a:t>
            </a:r>
            <a:r>
              <a:rPr lang="en-US" sz="1400" b="1" dirty="0">
                <a:solidFill>
                  <a:schemeClr val="dk1"/>
                </a:solidFill>
              </a:rPr>
              <a:t>total </a:t>
            </a:r>
            <a:r>
              <a:rPr lang="en-US" sz="1400" dirty="0">
                <a:solidFill>
                  <a:schemeClr val="dk1"/>
                </a:solidFill>
              </a:rPr>
              <a:t>residency for over </a:t>
            </a:r>
            <a:r>
              <a:rPr lang="en-US" sz="1400" b="1" dirty="0">
                <a:solidFill>
                  <a:schemeClr val="dk1"/>
                </a:solidFill>
              </a:rPr>
              <a:t>a million</a:t>
            </a:r>
            <a:r>
              <a:rPr lang="en-US" sz="1400" dirty="0">
                <a:solidFill>
                  <a:schemeClr val="dk1"/>
                </a:solidFill>
              </a:rPr>
              <a:t> seconds without a second thought.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[Directly challenge the audience]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Let’s </a:t>
            </a:r>
            <a:r>
              <a:rPr lang="en-US" sz="1400" dirty="0">
                <a:solidFill>
                  <a:schemeClr val="dk1"/>
                </a:solidFill>
              </a:rPr>
              <a:t>do a quick reality check here. </a:t>
            </a:r>
            <a:r>
              <a:rPr lang="en-US" sz="1400" b="1" dirty="0">
                <a:solidFill>
                  <a:schemeClr val="dk1"/>
                </a:solidFill>
              </a:rPr>
              <a:t>If a </a:t>
            </a:r>
            <a:r>
              <a:rPr lang="en-US" sz="1400" dirty="0">
                <a:solidFill>
                  <a:schemeClr val="dk1"/>
                </a:solidFill>
              </a:rPr>
              <a:t>threat actor exfiltrates </a:t>
            </a:r>
            <a:r>
              <a:rPr lang="en-US" sz="1400" b="1" dirty="0">
                <a:solidFill>
                  <a:schemeClr val="dk1"/>
                </a:solidFill>
              </a:rPr>
              <a:t>a machine's </a:t>
            </a:r>
            <a:r>
              <a:rPr lang="en-US" sz="1400" dirty="0" err="1">
                <a:solidFill>
                  <a:schemeClr val="dk1"/>
                </a:solidFill>
              </a:rPr>
              <a:t>NTDS.dit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</a:rPr>
              <a:t>file </a:t>
            </a:r>
            <a:r>
              <a:rPr lang="en-US" sz="1400" dirty="0">
                <a:solidFill>
                  <a:schemeClr val="dk1"/>
                </a:solidFill>
              </a:rPr>
              <a:t>or dumps local LSASS </a:t>
            </a:r>
            <a:r>
              <a:rPr lang="en-US" sz="1400" b="1" dirty="0">
                <a:solidFill>
                  <a:schemeClr val="dk1"/>
                </a:solidFill>
              </a:rPr>
              <a:t>memory,</a:t>
            </a:r>
            <a:r>
              <a:rPr lang="en-US" sz="1400" dirty="0">
                <a:solidFill>
                  <a:schemeClr val="dk1"/>
                </a:solidFill>
              </a:rPr>
              <a:t> your SOC goes into a tier-1 </a:t>
            </a:r>
            <a:r>
              <a:rPr lang="en-US" sz="1400" b="1" dirty="0">
                <a:solidFill>
                  <a:schemeClr val="dk1"/>
                </a:solidFill>
              </a:rPr>
              <a:t>lockdown</a:t>
            </a:r>
            <a:r>
              <a:rPr lang="en-US" sz="1400" dirty="0">
                <a:solidFill>
                  <a:schemeClr val="dk1"/>
                </a:solidFill>
              </a:rPr>
              <a:t>. But if they silently pickpocket</a:t>
            </a:r>
            <a:r>
              <a:rPr lang="en-US" sz="1400" b="1" dirty="0">
                <a:solidFill>
                  <a:schemeClr val="dk1"/>
                </a:solidFill>
              </a:rPr>
              <a:t> an </a:t>
            </a:r>
            <a:r>
              <a:rPr lang="en-US" sz="1400" dirty="0">
                <a:solidFill>
                  <a:schemeClr val="dk1"/>
                </a:solidFill>
              </a:rPr>
              <a:t>active </a:t>
            </a:r>
            <a:r>
              <a:rPr lang="en-US" sz="14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ESTSAUTHPERSISTENT</a:t>
            </a:r>
            <a:r>
              <a:rPr lang="en-US" sz="1400" dirty="0">
                <a:solidFill>
                  <a:schemeClr val="dk1"/>
                </a:solidFill>
              </a:rPr>
              <a:t> cookie </a:t>
            </a:r>
            <a:r>
              <a:rPr lang="en-US" sz="1400" b="1" dirty="0">
                <a:solidFill>
                  <a:schemeClr val="dk1"/>
                </a:solidFill>
              </a:rPr>
              <a:t>from</a:t>
            </a:r>
            <a:r>
              <a:rPr lang="en-US" sz="1400" dirty="0">
                <a:solidFill>
                  <a:schemeClr val="dk1"/>
                </a:solidFill>
              </a:rPr>
              <a:t> an unmanaged mobile browser, </a:t>
            </a:r>
            <a:r>
              <a:rPr lang="en-US" sz="1400" b="1" dirty="0">
                <a:solidFill>
                  <a:schemeClr val="dk1"/>
                </a:solidFill>
              </a:rPr>
              <a:t>it </a:t>
            </a:r>
            <a:r>
              <a:rPr lang="en-US" sz="1400" dirty="0">
                <a:solidFill>
                  <a:schemeClr val="dk1"/>
                </a:solidFill>
              </a:rPr>
              <a:t>bypasses the entire </a:t>
            </a:r>
            <a:r>
              <a:rPr lang="en-US" sz="1400" b="1" dirty="0">
                <a:solidFill>
                  <a:schemeClr val="dk1"/>
                </a:solidFill>
              </a:rPr>
              <a:t>traditional</a:t>
            </a:r>
            <a:r>
              <a:rPr lang="en-US" sz="1400" dirty="0">
                <a:solidFill>
                  <a:schemeClr val="dk1"/>
                </a:solidFill>
              </a:rPr>
              <a:t> triage pipeline </a:t>
            </a:r>
            <a:r>
              <a:rPr lang="en-US" sz="1400" b="1" dirty="0">
                <a:solidFill>
                  <a:schemeClr val="dk1"/>
                </a:solidFill>
              </a:rPr>
              <a:t>because</a:t>
            </a:r>
            <a:r>
              <a:rPr lang="en-US" sz="1400" dirty="0">
                <a:solidFill>
                  <a:schemeClr val="dk1"/>
                </a:solidFill>
              </a:rPr>
              <a:t> the server views it </a:t>
            </a:r>
            <a:r>
              <a:rPr lang="en-US" sz="1400" b="1" dirty="0">
                <a:solidFill>
                  <a:schemeClr val="dk1"/>
                </a:solidFill>
              </a:rPr>
              <a:t>as an</a:t>
            </a:r>
            <a:r>
              <a:rPr lang="en-US" sz="1400" dirty="0">
                <a:solidFill>
                  <a:schemeClr val="dk1"/>
                </a:solidFill>
              </a:rPr>
              <a:t> entirely legitimate </a:t>
            </a:r>
            <a:r>
              <a:rPr lang="en-US" sz="1400" b="1" dirty="0">
                <a:solidFill>
                  <a:schemeClr val="dk1"/>
                </a:solidFill>
              </a:rPr>
              <a:t>resumption</a:t>
            </a:r>
            <a:r>
              <a:rPr lang="en-US" sz="1400" dirty="0">
                <a:solidFill>
                  <a:schemeClr val="dk1"/>
                </a:solidFill>
              </a:rPr>
              <a:t> of a convenient, long-lived session. </a:t>
            </a:r>
            <a:r>
              <a:rPr lang="en-US" sz="1400" b="1" dirty="0">
                <a:solidFill>
                  <a:schemeClr val="dk1"/>
                </a:solidFill>
              </a:rPr>
              <a:t>That </a:t>
            </a:r>
            <a:r>
              <a:rPr lang="en-US" sz="1400" dirty="0">
                <a:solidFill>
                  <a:schemeClr val="dk1"/>
                </a:solidFill>
              </a:rPr>
              <a:t>asymmetry </a:t>
            </a:r>
            <a:r>
              <a:rPr lang="en-US" sz="1400" b="1" dirty="0">
                <a:solidFill>
                  <a:schemeClr val="dk1"/>
                </a:solidFill>
              </a:rPr>
              <a:t>is</a:t>
            </a:r>
            <a:r>
              <a:rPr lang="en-US" sz="1400" dirty="0">
                <a:solidFill>
                  <a:schemeClr val="dk1"/>
                </a:solidFill>
              </a:rPr>
              <a:t> exactly why the adversary stopped</a:t>
            </a:r>
            <a:r>
              <a:rPr lang="en-US" sz="1400" b="1" dirty="0">
                <a:solidFill>
                  <a:schemeClr val="dk1"/>
                </a:solidFill>
              </a:rPr>
              <a:t> trying </a:t>
            </a:r>
            <a:r>
              <a:rPr lang="en-US" sz="1400" dirty="0">
                <a:solidFill>
                  <a:schemeClr val="dk1"/>
                </a:solidFill>
              </a:rPr>
              <a:t>to crack the perimeter and </a:t>
            </a:r>
            <a:r>
              <a:rPr lang="en-US" sz="1400" b="1" dirty="0">
                <a:solidFill>
                  <a:schemeClr val="dk1"/>
                </a:solidFill>
              </a:rPr>
              <a:t>started</a:t>
            </a:r>
            <a:r>
              <a:rPr lang="en-US" sz="1400" dirty="0">
                <a:solidFill>
                  <a:schemeClr val="dk1"/>
                </a:solidFill>
              </a:rPr>
              <a:t> waiting at the watering holes.“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9:32 – 9:52 | The Closing Hand-off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</a:rPr>
              <a:t>[Pause. Scan the room.]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"If our </a:t>
            </a:r>
            <a:r>
              <a:rPr lang="en-US" sz="1400" dirty="0">
                <a:solidFill>
                  <a:schemeClr val="dk1"/>
                </a:solidFill>
              </a:rPr>
              <a:t>foundation is this shaky, </a:t>
            </a:r>
            <a:r>
              <a:rPr lang="en-US" sz="1400" b="1" dirty="0">
                <a:solidFill>
                  <a:schemeClr val="dk1"/>
                </a:solidFill>
              </a:rPr>
              <a:t>we have</a:t>
            </a:r>
            <a:r>
              <a:rPr lang="en-US" sz="1400" dirty="0">
                <a:solidFill>
                  <a:schemeClr val="dk1"/>
                </a:solidFill>
              </a:rPr>
              <a:t> to ask: </a:t>
            </a:r>
            <a:r>
              <a:rPr lang="en-US" sz="1400" b="1" dirty="0">
                <a:solidFill>
                  <a:schemeClr val="dk1"/>
                </a:solidFill>
              </a:rPr>
              <a:t>how</a:t>
            </a:r>
            <a:r>
              <a:rPr lang="en-US" sz="1400" dirty="0">
                <a:solidFill>
                  <a:schemeClr val="dk1"/>
                </a:solidFill>
              </a:rPr>
              <a:t> does the adversary actually </a:t>
            </a:r>
            <a:r>
              <a:rPr lang="en-US" sz="1400" b="1" dirty="0">
                <a:solidFill>
                  <a:schemeClr val="dk1"/>
                </a:solidFill>
              </a:rPr>
              <a:t>set up</a:t>
            </a:r>
            <a:r>
              <a:rPr lang="en-US" sz="1400" dirty="0">
                <a:solidFill>
                  <a:schemeClr val="dk1"/>
                </a:solidFill>
              </a:rPr>
              <a:t> the heist? </a:t>
            </a:r>
            <a:r>
              <a:rPr lang="en-US" sz="1400" b="1" dirty="0">
                <a:solidFill>
                  <a:schemeClr val="dk1"/>
                </a:solidFill>
              </a:rPr>
              <a:t>How </a:t>
            </a:r>
            <a:r>
              <a:rPr lang="en-US" sz="1400" dirty="0">
                <a:solidFill>
                  <a:schemeClr val="dk1"/>
                </a:solidFill>
              </a:rPr>
              <a:t>do they build a </a:t>
            </a:r>
            <a:r>
              <a:rPr lang="en-US" sz="1400" b="1" dirty="0">
                <a:solidFill>
                  <a:schemeClr val="dk1"/>
                </a:solidFill>
              </a:rPr>
              <a:t>machine</a:t>
            </a:r>
            <a:r>
              <a:rPr lang="en-US" sz="1400" dirty="0">
                <a:solidFill>
                  <a:schemeClr val="dk1"/>
                </a:solidFill>
              </a:rPr>
              <a:t> that can live-edit </a:t>
            </a:r>
            <a:r>
              <a:rPr lang="en-US" sz="1400" b="1" dirty="0">
                <a:solidFill>
                  <a:schemeClr val="dk1"/>
                </a:solidFill>
              </a:rPr>
              <a:t>Dave's </a:t>
            </a:r>
            <a:r>
              <a:rPr lang="en-US" sz="1400" dirty="0">
                <a:solidFill>
                  <a:schemeClr val="dk1"/>
                </a:solidFill>
              </a:rPr>
              <a:t>reality without him </a:t>
            </a:r>
            <a:r>
              <a:rPr lang="en-US" sz="1400" b="1" dirty="0">
                <a:solidFill>
                  <a:schemeClr val="dk1"/>
                </a:solidFill>
              </a:rPr>
              <a:t>seeing</a:t>
            </a:r>
            <a:r>
              <a:rPr lang="en-US" sz="1400" dirty="0">
                <a:solidFill>
                  <a:schemeClr val="dk1"/>
                </a:solidFill>
              </a:rPr>
              <a:t> a single glitch? </a:t>
            </a:r>
            <a:r>
              <a:rPr lang="en-US" sz="1400" b="1" dirty="0">
                <a:solidFill>
                  <a:schemeClr val="dk1"/>
                </a:solidFill>
              </a:rPr>
              <a:t>To </a:t>
            </a:r>
            <a:r>
              <a:rPr lang="en-US" sz="1400" dirty="0">
                <a:solidFill>
                  <a:schemeClr val="dk1"/>
                </a:solidFill>
              </a:rPr>
              <a:t>understand that, </a:t>
            </a:r>
            <a:r>
              <a:rPr lang="en-US" sz="1400" b="1" dirty="0">
                <a:solidFill>
                  <a:schemeClr val="dk1"/>
                </a:solidFill>
              </a:rPr>
              <a:t>we</a:t>
            </a:r>
            <a:r>
              <a:rPr lang="en-US" sz="1400" dirty="0">
                <a:solidFill>
                  <a:schemeClr val="dk1"/>
                </a:solidFill>
              </a:rPr>
              <a:t> have to </a:t>
            </a:r>
            <a:r>
              <a:rPr lang="en-US" sz="1400" b="1" dirty="0">
                <a:solidFill>
                  <a:schemeClr val="dk1"/>
                </a:solidFill>
              </a:rPr>
              <a:t>go under</a:t>
            </a:r>
            <a:r>
              <a:rPr lang="en-US" sz="1400" dirty="0">
                <a:solidFill>
                  <a:schemeClr val="dk1"/>
                </a:solidFill>
              </a:rPr>
              <a:t> the hood of the engine itself."</a:t>
            </a:r>
            <a:endParaRPr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9:52 – 10:39 | The Myth vs. The Reality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people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hear 'phishing site,'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 usually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picture a static, fake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hosted on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shady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think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they look closely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enough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the font or the logo,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they'll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spot the fake.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tools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like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Evilginx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changed the game.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'copy' of Microsoft;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surgical, live-streamed relay.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isn't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hosting anything.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It’s sitting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middle, acting as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translator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Dave and the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real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servers.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Microsoft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changes their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image for a holiday at 2:00 PM,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phishing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site changes at 2:00:01 PM.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perfect, real-time reflection.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10:39 – 11:46 | The Search &amp; Replace Machine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So how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does it keep Dave from noticing he’s on a different domain?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I call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'Search and Replace' engine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powered by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NGINX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sub_filter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the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data packets fly from Microsoft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toward Dave's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browser,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catches them in mid-air.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scans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code for every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mention of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real domain—login.microsoft.com—a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 live-edits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to point back to the proxy’s domain.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rewriting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fabric of the session on the fly.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Dave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clicks 'Sign In,'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catches that request,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strips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out Dave's info,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forwards it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real Microsoft,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catches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Microsoft's response to continue the lie.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high-speed game of 'Keep Away'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the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never sees the ball.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11:46 – 12:24 | Stripping the Armor (The Security Header Bypass)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wait—modern browsers have armor, right?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Security Policy (CSP)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X-Frame-Options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specifically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to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stop this.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the proxy gets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surgical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As those security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headers fly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the proxy,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doesn't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try to bypass them; it just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deletes them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instructions that tell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browser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'Only trust Microsoft'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simply strips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them out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packet.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 that data reaches Dave’s laptop,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browser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functionally blind.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not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the browser failed;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that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instructions on how to protect itself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were stolen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before they could be read.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12:24 – 13:16 | The Termination Point &amp; The Plaintext Prize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most critical technical point: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TLS Termination Point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We’ve spent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years telling people 'Look for the padlock,'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that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padlock only means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tunnel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encrypted.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attack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there are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tunnels: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from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Dave to the Proxy,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one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Proxy to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Microsoft.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proxy owns the keys to both,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is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only place in the world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traffic is decrypted.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fraction of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millisecond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inside the proxy’s RAM,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Dave’s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ESTSAUTHPERSISTENT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cookie exist in plaintext.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attacker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isn't 'cracking' encryption;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are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just a legitimate end-point of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hijacked conversation.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13:16 – 13:49  | Transition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[Step toward the center of the stage. Pause for 3 seconds.]</a:t>
            </a:r>
            <a:endParaRPr sz="1400" b="1" dirty="0"/>
          </a:p>
          <a:p>
            <a:pPr marL="158750" indent="0" rtl="0">
              <a:buNone/>
            </a:pPr>
            <a:endParaRPr lang="en-US" sz="14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Now,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think about what we just unpacked.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machine running this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aggressively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—literally ripping SSL sessions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mid-air,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stripping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core security headers,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rewriting domain strings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—should be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blindingly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obvious.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 should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be screaming 'malicious' to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automated cloud sandbox and threat intel feed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planet.</a:t>
            </a:r>
            <a:endParaRPr lang="en-US" sz="1400" b="1" dirty="0">
              <a:effectLst/>
            </a:endParaRPr>
          </a:p>
          <a:p>
            <a:pPr marL="158750" indent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why isn't your multi-billion dollar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enterprise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security stack catching it?</a:t>
            </a:r>
          </a:p>
          <a:p>
            <a:pPr marL="158750" indent="0" rtl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158750" indent="0" rtl="0">
              <a:buNone/>
            </a:pPr>
            <a:r>
              <a:rPr lang="en-US" sz="1400" dirty="0"/>
              <a:t>It’s because the adversary faced a </a:t>
            </a:r>
            <a:r>
              <a:rPr lang="en-US" sz="1400" b="1" dirty="0"/>
              <a:t>massive</a:t>
            </a:r>
            <a:r>
              <a:rPr lang="en-US" sz="1400" dirty="0"/>
              <a:t> engineering problem: </a:t>
            </a:r>
            <a:r>
              <a:rPr lang="en-US" sz="1400" b="1" dirty="0"/>
              <a:t>defense-in-depth security scanners</a:t>
            </a:r>
            <a:r>
              <a:rPr lang="en-US" sz="1400" dirty="0"/>
              <a:t>. To survive, they had to </a:t>
            </a:r>
            <a:r>
              <a:rPr lang="en-US" sz="1400" b="1" dirty="0"/>
              <a:t>build a</a:t>
            </a:r>
            <a:r>
              <a:rPr lang="en-US" sz="1400" dirty="0"/>
              <a:t> protective layer around their proxy. </a:t>
            </a:r>
            <a:r>
              <a:rPr lang="en-US" sz="1400" b="1" dirty="0"/>
              <a:t>They</a:t>
            </a:r>
            <a:r>
              <a:rPr lang="en-US" sz="1400" dirty="0"/>
              <a:t> built an adaptive, </a:t>
            </a:r>
            <a:r>
              <a:rPr lang="en-US" sz="1400" b="1" dirty="0"/>
              <a:t>identity-aware</a:t>
            </a:r>
            <a:r>
              <a:rPr lang="en-US" sz="1400" dirty="0"/>
              <a:t> firewall whose sole job is to </a:t>
            </a:r>
            <a:r>
              <a:rPr lang="en-US" sz="1400" b="1" dirty="0"/>
              <a:t>interrogate</a:t>
            </a:r>
            <a:r>
              <a:rPr lang="en-US" sz="1400" dirty="0"/>
              <a:t> every single inbound connection </a:t>
            </a:r>
            <a:r>
              <a:rPr lang="en-US" sz="1400" b="1" dirty="0"/>
              <a:t>before</a:t>
            </a:r>
            <a:r>
              <a:rPr lang="en-US" sz="1400" dirty="0"/>
              <a:t> letting them anywhere near the phishing engine.</a:t>
            </a:r>
            <a:br>
              <a:rPr lang="en-US" sz="1400" b="0" dirty="0">
                <a:effectLst/>
              </a:rPr>
            </a:b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[Click to Slide 4]</a:t>
            </a:r>
            <a:endParaRPr lang="en-US" sz="1400" b="1" dirty="0">
              <a:effectLst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13:49 - 14:48 | The Identity-Aware Evasion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158750" indent="0" rtl="0">
              <a:buNone/>
            </a:pPr>
            <a:r>
              <a:rPr lang="en-US" sz="1400" dirty="0"/>
              <a:t>They built a digital bouncer at the door.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enemy knows exactly what we are looking for.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maintain dynamic,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updated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registries of every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known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IP address belonging to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Microsoft,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Google,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every major security vendor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sitting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this building.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 automated corporate sandbox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 email gateway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crawler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attempts to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inspect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that URL,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bouncer immediately executes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'Silent Fail'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serves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up a generic 404 error,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seamlessly redirects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traffic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completely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legitimate destination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real Google landing page.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your SOC,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link looks dead,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it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looks like a user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misclick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But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exact millisecond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real human being clicking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legitimate Pennsylvania egress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hits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that web server?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bouncer steps aside, and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door opens wide.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14:48 - 15:26 | The Digital Accent (JA4 Fingerprinting) </a:t>
            </a: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 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go deeper than just IP filtering.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 look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at your Digital Accent.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Every browser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—and every bot—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leaves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unique signature during the TLS handshake.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We used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use JA3, but the gold standard now is JA4.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[Point to the JA4 diagram]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Security scanners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have very 'robotic' accents.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 use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specific cipher suites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specific order that no human on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Chrome browser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would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ever use.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bouncer inspects this signature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before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single byte of the webpage is even served.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fingerprint doesn't look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like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real person on a real device,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trap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stays hidden.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We 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fighting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 enemy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that can tell the difference between a forensic tool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a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victim in a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fraction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of a second.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15:26 - 18:33 | Behavioral Gating: The Humanity Test</a:t>
            </a: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 if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 get past the IP filter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fingerprinting,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 hit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Humanity Test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Modern proxies use Behavioral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Gating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When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page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first loads,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'Sign-In'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form isn't even in the code.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script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is sitting there, waiting.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It’s looking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for non-linear mouse movement.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It’s looking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for a window resize.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It’s looking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for a scroll.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a sandbox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takes a screenshot at 'Time Zero'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analyze the page,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it just sees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blank white screen.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Because the bot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doesn't 'move'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like a person,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phishing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logic never triggers.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bouncer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only hands over the keys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kingdom when it's convinced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there’s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heartbeat on the other end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 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wire.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 want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highlight a trap for your SOC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teams here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How many times has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user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reported a link,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your analyst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clicks it in a sandbox,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sees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blank white page,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and closes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ticket as 'False Positive'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'Broken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Link'?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That is exactly what the bouncer wants.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We have to train our analysts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that a '404'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a 'Blank Page'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reported phish isn't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sign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of safety—it’s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sign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that the adversary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recognized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your forensic signature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went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dark.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Let's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pull back the curtain on how your SOC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analysts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interact with this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evasion.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user submits a suspicious link via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 Outlook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reporting add-in.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automated mail filter spins up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cloud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sandbox,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loads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URL, and takes a screenshot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 'Time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Zero.' Because there's no DOM rendering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without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interactive human mouse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pathing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or window scaling 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bot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captures a pristine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white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frame and flags the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URL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as harmless.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 tier-1 analyst manually reviews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escalation queue.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click the link inside their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isolated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environment. The adversary's bouncer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scans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TLS fingerprint,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notes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robotic accent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data-center IP pool 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issues a hard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404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or a redirect to an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innocent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landing page.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analyst logs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ticket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as a 'Broken Link'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user error and closes it.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have to fundamentally retrain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our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security operations teams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realize that a 404 error,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infinite loading spinner,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blank page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user-reported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email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 no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longer a sigh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relief.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2026,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is a high-confidence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indicator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of compromise.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means the adversary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recognized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your forensic signature,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slammed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blast doors shut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hide their engine,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kept the trap open exclusively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victim.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18:33 - 19:28 | Laundering the IP: Residential Proxies </a:t>
            </a:r>
            <a:endParaRPr lang="en-US" sz="1400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 route these sessions through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hijacked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home routers three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miles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your office.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your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automated 'Impossible Travel' alerts,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traffic looks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perfectly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normal.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bouncer hasn’t just checked the ID;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he's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ensured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attacker is wearing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exact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same local uniform as your employees.</a:t>
            </a:r>
          </a:p>
          <a:p>
            <a:pPr marL="158750" indent="0" rtl="0">
              <a:buNone/>
            </a:pPr>
            <a:endParaRPr lang="en-US" sz="1400" b="0" dirty="0">
              <a:effectLst/>
            </a:endParaRP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bouncer is guarding the door,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engine is running,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trap is completely invisible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your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infrastructure.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trap is useless if nobody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walks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through it.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adversary still faces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massive hurdle: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have to force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being to step inside.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19:28 - 19:56 | Transition to Slide 5</a:t>
            </a:r>
            <a:endParaRPr lang="en-US" b="1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[Step to the side of the stage. Shift your tone to focus on strategy.]</a:t>
            </a:r>
          </a:p>
          <a:p>
            <a:pPr marL="158750" indent="0" rtl="0">
              <a:buNone/>
            </a:pPr>
            <a:endParaRPr lang="en-US" b="1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 know that if they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malicious link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Dave’s corporate-managed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laptop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risk running into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EDR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memory inspection,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DNS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blocklists,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secure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email gateways.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don't want to fight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rigged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match on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turf.</a:t>
            </a:r>
          </a:p>
          <a:p>
            <a:pPr marL="158750" indent="0" rtl="0">
              <a:buNone/>
            </a:pPr>
            <a:endParaRPr lang="en-US" b="1" dirty="0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2026,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modern adversary executes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brilliant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tactical pivot.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move the entire battlefield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away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from the corporate perimeter.</a:t>
            </a:r>
            <a:endParaRPr lang="en-US" b="1" dirty="0">
              <a:effectLst/>
            </a:endParaRPr>
          </a:p>
          <a:p>
            <a:pPr marL="158750" indent="0" rtl="0">
              <a:buNone/>
            </a:pPr>
            <a:endParaRPr lang="en-U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rtl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[Click to Slide 5]</a:t>
            </a:r>
            <a:endParaRPr lang="en-US" b="1" dirty="0">
              <a:effectLst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Lure &amp; The Mobile Pivot (7:00)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 go straight for the pocket.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20:04 – 20:38 | The Path of Least Resistance</a:t>
            </a:r>
            <a:endParaRPr sz="1400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target the unmanaged mobile device.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want to shift the conflict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professional ring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 have a referee and a camera,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a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dark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alley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your security team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completely blind.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is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'Pocket Pivot.'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adversary plays on our collective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psychological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attachment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our phones—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because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they know that the second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 employee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interacts with corporate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on a six-inch personal screen,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their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security posture completely shifts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skeptical professional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distracted </a:t>
            </a:r>
            <a:r>
              <a:rPr lang="en-US" sz="14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consumer.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20:38 – 21:22 | The Black Box of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Quishing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(QR Phishing)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Quishing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total 'black box'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your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security gateway.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filters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just see an image.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for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user,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call to action.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Dave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scans a code in a PDF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breakroom poster,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he’s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just bypassed your entire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defensive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stack.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He’s 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 personal iPhone now.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EDR there.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corporate VPN.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cramped mobile screen,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UI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hides the malicious URL.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We’ve allowed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attacker to move the battle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where the 'Padlock'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only thing the user sees,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know, the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padlock is a lie.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21:22 – 22:24 | Trust Laundering &amp; AI Context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aren't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bad-site.com. They use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Open Redirects on domains you trust—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Google, or Microsoft.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filter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sees 'LinkedIn' and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gives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a green light.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sees 'LinkedIn'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feels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safe.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after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click,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trusted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domain silently 'launders' the link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hops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until they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land at the proxy.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[Tone shift: Serious]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with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LLMs,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'Cringe Factor'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gone.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aren't sending generic spam.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They’ve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scraped Dave’s LinkedIn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his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company’s public contracts.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lure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says: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'Hey Dave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I’m finalizing that </a:t>
            </a:r>
            <a:r>
              <a:rPr lang="en-US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Harrisburg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assessment—</a:t>
            </a:r>
            <a:r>
              <a:rPr lang="en-US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 check these permissions?'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not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phish;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high-fidelity impersonation.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We’re asking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to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their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 boss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high-pressure morning,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losing bet.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sz="1400" b="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22:24 – 22:44 Transition to slide 6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now looking at an email that sounds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 boss,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project he’s actually working on,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delivered to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device he trusts.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psychological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bridge has been crossed.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He’s scanning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code.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He’s clicking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link.</a:t>
            </a:r>
            <a:endParaRPr sz="140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[Click to Slide 6]</a:t>
            </a:r>
            <a:endParaRPr sz="14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22:44 – 22:58 | Transition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exact moment,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'Invisible Valet' steps out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shadows. </a:t>
            </a:r>
            <a:endParaRPr sz="1400" b="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about to watch the actual theft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happen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real-time.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Phase 2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'Capture Dance.</a:t>
            </a:r>
            <a:endParaRPr sz="140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22:58 – 23:38 | The Synchronized Handshake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on the site.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They’ve scanned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code.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them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 looks like a normal Wednesday.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behind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scenes,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we’re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performing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'Capture Dance.'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Dave types his username,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mirrors those keystrokes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real Microsoft server in milliseconds.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real-time, synchronized handshake.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Microsoft issues the MFA challenge,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just passes it through to Dave’s phone.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 taps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'Approve,' thinking he’s logging in.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didn't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just authorize himself;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authorized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Valet.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23:38 – 24:11 | Plucking the Golden Ticket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our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proxy is the TLS Termination Point,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has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front-row seat.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MFA is cleared,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sends back the prize: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session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cookies.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plucks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ESTSAUTHPERSISTENT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cookie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 of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HTTP header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before it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ever reaches Dave.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'Golden Ticket.'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proof that the password </a:t>
            </a:r>
            <a:r>
              <a:rPr lang="en-US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MFA were successful.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proxy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doesn't need to 'crack' anything;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just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catches the ball that Microsoft threw.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24:11 – 25:00 | The Clean Hand-off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To</a:t>
            </a:r>
            <a:r>
              <a:rPr lang="en-US" sz="1400" dirty="0"/>
              <a:t> keep the illusion alive, </a:t>
            </a:r>
            <a:r>
              <a:rPr lang="en-US" sz="1400" b="1" dirty="0"/>
              <a:t>the proxy </a:t>
            </a:r>
            <a:r>
              <a:rPr lang="en-US" sz="1400" dirty="0"/>
              <a:t>executes a seamless</a:t>
            </a:r>
            <a:r>
              <a:rPr lang="en-US" sz="1400" b="1" dirty="0"/>
              <a:t>, transparent </a:t>
            </a:r>
            <a:r>
              <a:rPr lang="en-US" sz="1400" dirty="0"/>
              <a:t>hand-off. </a:t>
            </a:r>
            <a:r>
              <a:rPr lang="en-US" sz="1400" b="1" dirty="0"/>
              <a:t>It silently </a:t>
            </a:r>
            <a:r>
              <a:rPr lang="en-US" sz="1400" dirty="0"/>
              <a:t>forwards Dave </a:t>
            </a:r>
            <a:r>
              <a:rPr lang="en-US" sz="1400" b="1" dirty="0"/>
              <a:t>straight</a:t>
            </a:r>
            <a:r>
              <a:rPr lang="en-US" sz="1400" dirty="0"/>
              <a:t> to the real SharePoint file </a:t>
            </a:r>
            <a:r>
              <a:rPr lang="en-US" sz="1400" b="1" dirty="0"/>
              <a:t>he</a:t>
            </a:r>
            <a:r>
              <a:rPr lang="en-US" sz="1400" dirty="0"/>
              <a:t> was expecting. </a:t>
            </a:r>
            <a:r>
              <a:rPr lang="en-US" sz="1400" b="1" dirty="0"/>
              <a:t>Dave</a:t>
            </a:r>
            <a:r>
              <a:rPr lang="en-US" sz="1400" dirty="0"/>
              <a:t> thinks to himself, </a:t>
            </a:r>
            <a:r>
              <a:rPr lang="en-US" sz="1400" i="1" dirty="0"/>
              <a:t>'</a:t>
            </a:r>
            <a:r>
              <a:rPr lang="en-US" sz="1400" b="1" i="1" dirty="0"/>
              <a:t>Okay</a:t>
            </a:r>
            <a:r>
              <a:rPr lang="en-US" sz="1400" i="1" dirty="0"/>
              <a:t>, that was a slightly weird login delay,'</a:t>
            </a:r>
            <a:r>
              <a:rPr lang="en-US" sz="1400" dirty="0"/>
              <a:t> </a:t>
            </a:r>
            <a:r>
              <a:rPr lang="en-US" sz="1400" b="1" dirty="0"/>
              <a:t>but</a:t>
            </a:r>
            <a:r>
              <a:rPr lang="en-US" sz="1400" dirty="0"/>
              <a:t> he’s in. </a:t>
            </a:r>
            <a:r>
              <a:rPr lang="en-US" sz="1400" b="1" dirty="0"/>
              <a:t>He closes </a:t>
            </a:r>
            <a:r>
              <a:rPr lang="en-US" sz="1400" dirty="0"/>
              <a:t>the browser tab, </a:t>
            </a:r>
            <a:r>
              <a:rPr lang="en-US" sz="1400" b="1" dirty="0"/>
              <a:t>grabs</a:t>
            </a:r>
            <a:r>
              <a:rPr lang="en-US" sz="1400" dirty="0"/>
              <a:t> his notebook, </a:t>
            </a:r>
            <a:r>
              <a:rPr lang="en-US" sz="1400" b="1" dirty="0"/>
              <a:t>and</a:t>
            </a:r>
            <a:r>
              <a:rPr lang="en-US" sz="1400" dirty="0"/>
              <a:t> walks into his 8:30 AM </a:t>
            </a:r>
            <a:r>
              <a:rPr lang="en-US" sz="1400" b="1" dirty="0"/>
              <a:t>meeting</a:t>
            </a:r>
            <a:r>
              <a:rPr lang="en-US" sz="1400" dirty="0"/>
              <a:t> completely oblivious. 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Meanwhile</a:t>
            </a:r>
            <a:r>
              <a:rPr lang="en-US" sz="1400" dirty="0"/>
              <a:t>, back on the attacker’s </a:t>
            </a:r>
            <a:r>
              <a:rPr lang="en-US" sz="1400" b="1" dirty="0"/>
              <a:t>command</a:t>
            </a:r>
            <a:r>
              <a:rPr lang="en-US" sz="1400" dirty="0"/>
              <a:t> dashboard, a </a:t>
            </a:r>
            <a:r>
              <a:rPr lang="en-US" sz="1400" b="1" dirty="0"/>
              <a:t>notification</a:t>
            </a:r>
            <a:r>
              <a:rPr lang="en-US" sz="1400" dirty="0"/>
              <a:t> pings. </a:t>
            </a:r>
            <a:r>
              <a:rPr lang="en-US" sz="1400" b="1" dirty="0"/>
              <a:t>They</a:t>
            </a:r>
            <a:r>
              <a:rPr lang="en-US" sz="1400" dirty="0"/>
              <a:t> don't have Dave's password—</a:t>
            </a:r>
            <a:r>
              <a:rPr lang="en-US" sz="1400" b="1" dirty="0"/>
              <a:t>and frankly</a:t>
            </a:r>
            <a:r>
              <a:rPr lang="en-US" sz="1400" dirty="0"/>
              <a:t>, they don't want it. </a:t>
            </a:r>
            <a:r>
              <a:rPr lang="en-US" sz="1400" b="1" dirty="0"/>
              <a:t>What</a:t>
            </a:r>
            <a:r>
              <a:rPr lang="en-US" sz="1400" dirty="0"/>
              <a:t> they have is a fully functional, </a:t>
            </a:r>
            <a:r>
              <a:rPr lang="en-US" sz="1400" b="1" dirty="0"/>
              <a:t>live </a:t>
            </a:r>
            <a:r>
              <a:rPr lang="en-US" sz="1400" dirty="0"/>
              <a:t>clone of Dave’s cloud identity.“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25:00 – 25:48 | Transition to slide 7 </a:t>
            </a:r>
            <a:endParaRPr sz="1400" b="0" dirty="0"/>
          </a:p>
          <a:p>
            <a:pPr marL="158750" indent="0">
              <a:buNone/>
            </a:pPr>
            <a:r>
              <a:rPr lang="en-US" sz="1400" b="1" dirty="0"/>
              <a:t>Now</a:t>
            </a:r>
            <a:r>
              <a:rPr lang="en-US" sz="1400" dirty="0"/>
              <a:t>, in a traditional </a:t>
            </a:r>
            <a:r>
              <a:rPr lang="en-US" sz="1400" b="1" dirty="0"/>
              <a:t>corporate </a:t>
            </a:r>
            <a:r>
              <a:rPr lang="en-US" sz="1400" dirty="0"/>
              <a:t>security model</a:t>
            </a:r>
            <a:r>
              <a:rPr lang="en-US" sz="1400" b="1" dirty="0"/>
              <a:t>, we have </a:t>
            </a:r>
            <a:r>
              <a:rPr lang="en-US" sz="1400" dirty="0"/>
              <a:t>a standard </a:t>
            </a:r>
            <a:r>
              <a:rPr lang="en-US" sz="1400" b="1" dirty="0"/>
              <a:t>playbook </a:t>
            </a:r>
            <a:r>
              <a:rPr lang="en-US" sz="1400" dirty="0"/>
              <a:t>for this. </a:t>
            </a:r>
            <a:r>
              <a:rPr lang="en-US" sz="1400" b="1" dirty="0"/>
              <a:t>The</a:t>
            </a:r>
            <a:r>
              <a:rPr lang="en-US" sz="1400" dirty="0"/>
              <a:t> alert fires, </a:t>
            </a:r>
            <a:r>
              <a:rPr lang="en-US" sz="1400" b="1" dirty="0"/>
              <a:t>the</a:t>
            </a:r>
            <a:r>
              <a:rPr lang="en-US" sz="1400" dirty="0"/>
              <a:t> SOC realizes Dave's identity </a:t>
            </a:r>
            <a:r>
              <a:rPr lang="en-US" sz="1400" b="1" dirty="0"/>
              <a:t>might</a:t>
            </a:r>
            <a:r>
              <a:rPr lang="en-US" sz="1400" dirty="0"/>
              <a:t> be compromised, </a:t>
            </a:r>
            <a:r>
              <a:rPr lang="en-US" sz="1400" b="1" dirty="0"/>
              <a:t>and </a:t>
            </a:r>
            <a:r>
              <a:rPr lang="en-US" sz="1400" dirty="0"/>
              <a:t>the remediation team immediately </a:t>
            </a:r>
            <a:r>
              <a:rPr lang="en-US" sz="1400" b="1" dirty="0"/>
              <a:t>pulls</a:t>
            </a:r>
            <a:r>
              <a:rPr lang="en-US" sz="1400" dirty="0"/>
              <a:t> the emergency brake: </a:t>
            </a:r>
            <a:r>
              <a:rPr lang="en-US" sz="1400" b="1" dirty="0"/>
              <a:t>we</a:t>
            </a:r>
            <a:r>
              <a:rPr lang="en-US" sz="1400" dirty="0"/>
              <a:t> trigger an </a:t>
            </a:r>
            <a:r>
              <a:rPr lang="en-US" sz="1400" b="1" dirty="0"/>
              <a:t>enterprise-wide</a:t>
            </a:r>
            <a:r>
              <a:rPr lang="en-US" sz="1400" dirty="0"/>
              <a:t> password reset. </a:t>
            </a:r>
            <a:r>
              <a:rPr lang="en-US" sz="1400" b="1" dirty="0"/>
              <a:t>We </a:t>
            </a:r>
            <a:r>
              <a:rPr lang="en-US" sz="1400" dirty="0"/>
              <a:t>patch the hole, </a:t>
            </a:r>
            <a:r>
              <a:rPr lang="en-US" sz="1400" b="1" dirty="0"/>
              <a:t>we</a:t>
            </a:r>
            <a:r>
              <a:rPr lang="en-US" sz="1400" dirty="0"/>
              <a:t> consider the incident closed, </a:t>
            </a:r>
            <a:r>
              <a:rPr lang="en-US" sz="1400" b="1" dirty="0"/>
              <a:t>and</a:t>
            </a:r>
            <a:r>
              <a:rPr lang="en-US" sz="1400" dirty="0"/>
              <a:t> we move on to the next ticket.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b="1" dirty="0"/>
              <a:t>[Slowly shake your head slightly.]</a:t>
            </a:r>
          </a:p>
          <a:p>
            <a:pPr marL="158750" indent="0">
              <a:buNone/>
            </a:pPr>
            <a:endParaRPr lang="en-US" sz="1400" dirty="0"/>
          </a:p>
          <a:p>
            <a:pPr marL="158750" indent="0">
              <a:buNone/>
            </a:pPr>
            <a:r>
              <a:rPr lang="en-US" sz="1400" b="1" dirty="0"/>
              <a:t>But </a:t>
            </a:r>
            <a:r>
              <a:rPr lang="en-US" sz="1400" dirty="0"/>
              <a:t>we are standing here in 2026. </a:t>
            </a:r>
            <a:r>
              <a:rPr lang="en-US" sz="1400" b="1" dirty="0"/>
              <a:t>And</a:t>
            </a:r>
            <a:r>
              <a:rPr lang="en-US" sz="1400" dirty="0"/>
              <a:t> in the modern enterprise cloud, </a:t>
            </a:r>
            <a:r>
              <a:rPr lang="en-US" sz="1400" b="1" dirty="0"/>
              <a:t>assuming</a:t>
            </a:r>
            <a:r>
              <a:rPr lang="en-US" sz="1400" dirty="0"/>
              <a:t> a password reset is a silver bullet </a:t>
            </a:r>
            <a:r>
              <a:rPr lang="en-US" sz="1400" b="1" dirty="0"/>
              <a:t>is not </a:t>
            </a:r>
            <a:r>
              <a:rPr lang="en-US" sz="1400" dirty="0"/>
              <a:t>just a mistake—</a:t>
            </a:r>
            <a:r>
              <a:rPr lang="en-US" sz="1400" b="1" dirty="0"/>
              <a:t>it is </a:t>
            </a:r>
            <a:r>
              <a:rPr lang="en-US" sz="1400" dirty="0"/>
              <a:t>a fundamentally dangerous assumption. 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[Step toward the center of the stage. Shake your head slightly.]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[Click to Slide 7]</a:t>
            </a:r>
            <a:endParaRPr lang="en-US" sz="1400" b="1" i="0" u="none" strike="noStrike" cap="non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25:48 – 25:57  | Transition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Let's look under the hood </a:t>
            </a:r>
            <a:r>
              <a:rPr lang="en-US" sz="1400" b="1" dirty="0"/>
              <a:t>of why </a:t>
            </a:r>
            <a:r>
              <a:rPr lang="en-US" sz="1400" dirty="0"/>
              <a:t>the traditional 'Kill Switch' </a:t>
            </a:r>
            <a:r>
              <a:rPr lang="en-US" sz="1400" b="1" dirty="0"/>
              <a:t>you’ve </a:t>
            </a:r>
            <a:r>
              <a:rPr lang="en-US" sz="1400" dirty="0"/>
              <a:t>been relying on </a:t>
            </a:r>
            <a:r>
              <a:rPr lang="en-US" sz="1400" b="1" dirty="0"/>
              <a:t>for a </a:t>
            </a:r>
            <a:r>
              <a:rPr lang="en-US" sz="1400" dirty="0"/>
              <a:t>decade is completely broken.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25:57 – 26:35 | The Password Reset Myth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We have</a:t>
            </a:r>
            <a:r>
              <a:rPr lang="en-US" sz="1400" dirty="0">
                <a:solidFill>
                  <a:schemeClr val="dk1"/>
                </a:solidFill>
              </a:rPr>
              <a:t> to stop the lie that a password reset is a 'Kill Switch.' </a:t>
            </a:r>
            <a:r>
              <a:rPr lang="en-US" sz="1400" b="1" dirty="0">
                <a:solidFill>
                  <a:schemeClr val="dk1"/>
                </a:solidFill>
              </a:rPr>
              <a:t>In 2026</a:t>
            </a:r>
            <a:r>
              <a:rPr lang="en-US" sz="1400" dirty="0">
                <a:solidFill>
                  <a:schemeClr val="dk1"/>
                </a:solidFill>
              </a:rPr>
              <a:t>, </a:t>
            </a:r>
            <a:r>
              <a:rPr lang="en-US" sz="1400" b="1" dirty="0">
                <a:solidFill>
                  <a:schemeClr val="dk1"/>
                </a:solidFill>
              </a:rPr>
              <a:t>session tokens are decoupled from the password.</a:t>
            </a:r>
            <a:r>
              <a:rPr lang="en-US" sz="1400" dirty="0">
                <a:solidFill>
                  <a:schemeClr val="dk1"/>
                </a:solidFill>
              </a:rPr>
              <a:t> If you </a:t>
            </a:r>
            <a:r>
              <a:rPr lang="en-US" sz="1400" b="1" dirty="0">
                <a:solidFill>
                  <a:schemeClr val="dk1"/>
                </a:solidFill>
              </a:rPr>
              <a:t>reset Dave’s</a:t>
            </a:r>
            <a:r>
              <a:rPr lang="en-US" sz="1400" dirty="0">
                <a:solidFill>
                  <a:schemeClr val="dk1"/>
                </a:solidFill>
              </a:rPr>
              <a:t> password</a:t>
            </a:r>
            <a:r>
              <a:rPr lang="en-US" sz="1400" b="1" dirty="0">
                <a:solidFill>
                  <a:schemeClr val="dk1"/>
                </a:solidFill>
              </a:rPr>
              <a:t> at 10:00</a:t>
            </a:r>
            <a:r>
              <a:rPr lang="en-US" sz="1400" dirty="0">
                <a:solidFill>
                  <a:schemeClr val="dk1"/>
                </a:solidFill>
              </a:rPr>
              <a:t> AM, but you don't explicitly </a:t>
            </a:r>
            <a:r>
              <a:rPr lang="en-US" sz="1400" b="1" dirty="0">
                <a:solidFill>
                  <a:schemeClr val="dk1"/>
                </a:solidFill>
              </a:rPr>
              <a:t>'Revoke All Sessions,'</a:t>
            </a:r>
            <a:r>
              <a:rPr lang="en-US" sz="1400" dirty="0">
                <a:solidFill>
                  <a:schemeClr val="dk1"/>
                </a:solidFill>
              </a:rPr>
              <a:t> the </a:t>
            </a:r>
            <a:r>
              <a:rPr lang="en-US" sz="1400" b="1" dirty="0">
                <a:solidFill>
                  <a:schemeClr val="dk1"/>
                </a:solidFill>
              </a:rPr>
              <a:t>attacker</a:t>
            </a:r>
            <a:r>
              <a:rPr lang="en-US" sz="1400" dirty="0">
                <a:solidFill>
                  <a:schemeClr val="dk1"/>
                </a:solidFill>
              </a:rPr>
              <a:t> is still in. </a:t>
            </a:r>
            <a:r>
              <a:rPr lang="en-US" sz="1400" b="1" dirty="0">
                <a:solidFill>
                  <a:schemeClr val="dk1"/>
                </a:solidFill>
              </a:rPr>
              <a:t>The stolen</a:t>
            </a:r>
            <a:r>
              <a:rPr lang="en-US" sz="1400" dirty="0">
                <a:solidFill>
                  <a:schemeClr val="dk1"/>
                </a:solidFill>
              </a:rPr>
              <a:t> 'Golden Ticket' </a:t>
            </a:r>
            <a:r>
              <a:rPr lang="en-US" sz="1400" b="1" dirty="0">
                <a:solidFill>
                  <a:schemeClr val="dk1"/>
                </a:solidFill>
              </a:rPr>
              <a:t>doesn't </a:t>
            </a:r>
            <a:r>
              <a:rPr lang="en-US" sz="1400" dirty="0">
                <a:solidFill>
                  <a:schemeClr val="dk1"/>
                </a:solidFill>
              </a:rPr>
              <a:t>check the password database</a:t>
            </a:r>
            <a:r>
              <a:rPr lang="en-US" sz="1400" b="1" dirty="0">
                <a:solidFill>
                  <a:schemeClr val="dk1"/>
                </a:solidFill>
              </a:rPr>
              <a:t> every time</a:t>
            </a:r>
            <a:r>
              <a:rPr lang="en-US" sz="1400" dirty="0">
                <a:solidFill>
                  <a:schemeClr val="dk1"/>
                </a:solidFill>
              </a:rPr>
              <a:t> it’s used. </a:t>
            </a:r>
            <a:r>
              <a:rPr lang="en-US" sz="1400" b="1" dirty="0">
                <a:solidFill>
                  <a:schemeClr val="dk1"/>
                </a:solidFill>
              </a:rPr>
              <a:t>It only</a:t>
            </a:r>
            <a:r>
              <a:rPr lang="en-US" sz="1400" dirty="0">
                <a:solidFill>
                  <a:schemeClr val="dk1"/>
                </a:solidFill>
              </a:rPr>
              <a:t> checks its own expiration date. </a:t>
            </a:r>
            <a:r>
              <a:rPr lang="en-US" sz="1400" b="1" dirty="0">
                <a:solidFill>
                  <a:schemeClr val="dk1"/>
                </a:solidFill>
              </a:rPr>
              <a:t>The attacker</a:t>
            </a:r>
            <a:r>
              <a:rPr lang="en-US" sz="1400" dirty="0">
                <a:solidFill>
                  <a:schemeClr val="dk1"/>
                </a:solidFill>
              </a:rPr>
              <a:t> is 'teleporting' that cookie </a:t>
            </a:r>
            <a:r>
              <a:rPr lang="en-US" sz="1400" b="1" dirty="0">
                <a:solidFill>
                  <a:schemeClr val="dk1"/>
                </a:solidFill>
              </a:rPr>
              <a:t>into a</a:t>
            </a:r>
            <a:r>
              <a:rPr lang="en-US" sz="1400" dirty="0">
                <a:solidFill>
                  <a:schemeClr val="dk1"/>
                </a:solidFill>
              </a:rPr>
              <a:t> clean browser globally </a:t>
            </a:r>
            <a:r>
              <a:rPr lang="en-US" sz="1400" b="1" dirty="0">
                <a:solidFill>
                  <a:schemeClr val="dk1"/>
                </a:solidFill>
              </a:rPr>
              <a:t>while you’re</a:t>
            </a:r>
            <a:r>
              <a:rPr lang="en-US" sz="1400" dirty="0">
                <a:solidFill>
                  <a:schemeClr val="dk1"/>
                </a:solidFill>
              </a:rPr>
              <a:t> patting yourself on the back</a:t>
            </a:r>
            <a:r>
              <a:rPr lang="en-US" sz="1400" b="1" dirty="0">
                <a:solidFill>
                  <a:schemeClr val="dk1"/>
                </a:solidFill>
              </a:rPr>
              <a:t> for a </a:t>
            </a:r>
            <a:r>
              <a:rPr lang="en-US" sz="1400" dirty="0">
                <a:solidFill>
                  <a:schemeClr val="dk1"/>
                </a:solidFill>
              </a:rPr>
              <a:t>'successful' password reset.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26:35 –  29:52 | The 60-Minute Breach Window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The damage</a:t>
            </a:r>
            <a:r>
              <a:rPr lang="en-US" sz="1400" dirty="0">
                <a:solidFill>
                  <a:schemeClr val="dk1"/>
                </a:solidFill>
              </a:rPr>
              <a:t> happens in the first ten minutes. </a:t>
            </a:r>
            <a:r>
              <a:rPr lang="en-US" sz="1400" b="1" dirty="0">
                <a:solidFill>
                  <a:schemeClr val="dk1"/>
                </a:solidFill>
              </a:rPr>
              <a:t>The attacker</a:t>
            </a:r>
            <a:r>
              <a:rPr lang="en-US" sz="1400" dirty="0">
                <a:solidFill>
                  <a:schemeClr val="dk1"/>
                </a:solidFill>
              </a:rPr>
              <a:t> isn't just reading emails;</a:t>
            </a:r>
            <a:r>
              <a:rPr lang="en-US" sz="1400" b="1" dirty="0">
                <a:solidFill>
                  <a:schemeClr val="dk1"/>
                </a:solidFill>
              </a:rPr>
              <a:t> they are</a:t>
            </a:r>
            <a:r>
              <a:rPr lang="en-US" sz="1400" dirty="0">
                <a:solidFill>
                  <a:schemeClr val="dk1"/>
                </a:solidFill>
              </a:rPr>
              <a:t> establishing </a:t>
            </a:r>
            <a:r>
              <a:rPr lang="en-US" sz="1400" b="1" dirty="0">
                <a:solidFill>
                  <a:schemeClr val="dk1"/>
                </a:solidFill>
              </a:rPr>
              <a:t>Persistence</a:t>
            </a:r>
            <a:r>
              <a:rPr lang="en-US" sz="1400" dirty="0">
                <a:solidFill>
                  <a:schemeClr val="dk1"/>
                </a:solidFill>
              </a:rPr>
              <a:t>. They register their own </a:t>
            </a:r>
            <a:r>
              <a:rPr lang="en-US" sz="1400" b="1" dirty="0">
                <a:solidFill>
                  <a:schemeClr val="dk1"/>
                </a:solidFill>
              </a:rPr>
              <a:t>secondary</a:t>
            </a:r>
            <a:r>
              <a:rPr lang="en-US" sz="1400" dirty="0">
                <a:solidFill>
                  <a:schemeClr val="dk1"/>
                </a:solidFill>
              </a:rPr>
              <a:t> MFA device </a:t>
            </a:r>
            <a:r>
              <a:rPr lang="en-US" sz="1400" b="1" dirty="0">
                <a:solidFill>
                  <a:schemeClr val="dk1"/>
                </a:solidFill>
              </a:rPr>
              <a:t>so they</a:t>
            </a:r>
            <a:r>
              <a:rPr lang="en-US" sz="1400" dirty="0">
                <a:solidFill>
                  <a:schemeClr val="dk1"/>
                </a:solidFill>
              </a:rPr>
              <a:t> have a 'legitimate' </a:t>
            </a:r>
            <a:r>
              <a:rPr lang="en-US" sz="1400" b="1" dirty="0">
                <a:solidFill>
                  <a:schemeClr val="dk1"/>
                </a:solidFill>
              </a:rPr>
              <a:t>way back</a:t>
            </a:r>
            <a:r>
              <a:rPr lang="en-US" sz="1400" dirty="0">
                <a:solidFill>
                  <a:schemeClr val="dk1"/>
                </a:solidFill>
              </a:rPr>
              <a:t> in later. </a:t>
            </a:r>
            <a:r>
              <a:rPr lang="en-US" sz="1400" b="1" dirty="0">
                <a:solidFill>
                  <a:schemeClr val="dk1"/>
                </a:solidFill>
              </a:rPr>
              <a:t>They authorize</a:t>
            </a:r>
            <a:r>
              <a:rPr lang="en-US" sz="1400" dirty="0">
                <a:solidFill>
                  <a:schemeClr val="dk1"/>
                </a:solidFill>
              </a:rPr>
              <a:t> a malicious 'Enterprise App' </a:t>
            </a:r>
            <a:r>
              <a:rPr lang="en-US" sz="1400" b="1" dirty="0">
                <a:solidFill>
                  <a:schemeClr val="dk1"/>
                </a:solidFill>
              </a:rPr>
              <a:t>via</a:t>
            </a:r>
            <a:r>
              <a:rPr lang="en-US" sz="1400" dirty="0">
                <a:solidFill>
                  <a:schemeClr val="dk1"/>
                </a:solidFill>
              </a:rPr>
              <a:t> OAuth. </a:t>
            </a:r>
            <a:r>
              <a:rPr lang="en-US" sz="1400" b="1" dirty="0">
                <a:solidFill>
                  <a:schemeClr val="dk1"/>
                </a:solidFill>
              </a:rPr>
              <a:t>Even if </a:t>
            </a:r>
            <a:r>
              <a:rPr lang="en-US" sz="1400" dirty="0">
                <a:solidFill>
                  <a:schemeClr val="dk1"/>
                </a:solidFill>
              </a:rPr>
              <a:t>you kill Dave’s session, </a:t>
            </a:r>
            <a:r>
              <a:rPr lang="en-US" sz="1400" b="1" dirty="0">
                <a:solidFill>
                  <a:schemeClr val="dk1"/>
                </a:solidFill>
              </a:rPr>
              <a:t>that app</a:t>
            </a:r>
            <a:r>
              <a:rPr lang="en-US" sz="1400" dirty="0">
                <a:solidFill>
                  <a:schemeClr val="dk1"/>
                </a:solidFill>
              </a:rPr>
              <a:t> still has a persistent API </a:t>
            </a:r>
            <a:r>
              <a:rPr lang="en-US" sz="1400" b="1" dirty="0">
                <a:solidFill>
                  <a:schemeClr val="dk1"/>
                </a:solidFill>
              </a:rPr>
              <a:t>connection</a:t>
            </a:r>
            <a:r>
              <a:rPr lang="en-US" sz="1400" dirty="0">
                <a:solidFill>
                  <a:schemeClr val="dk1"/>
                </a:solidFill>
              </a:rPr>
              <a:t> to his mailbox. </a:t>
            </a:r>
            <a:r>
              <a:rPr lang="en-US" sz="1400" b="1" dirty="0">
                <a:solidFill>
                  <a:schemeClr val="dk1"/>
                </a:solidFill>
              </a:rPr>
              <a:t>They’ve </a:t>
            </a:r>
            <a:r>
              <a:rPr lang="en-US" sz="1400" dirty="0">
                <a:solidFill>
                  <a:schemeClr val="dk1"/>
                </a:solidFill>
              </a:rPr>
              <a:t>moved from 'Infiltrator' to 'Resident.’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I’ve seen</a:t>
            </a:r>
            <a:r>
              <a:rPr lang="en-US" sz="1400" dirty="0">
                <a:solidFill>
                  <a:schemeClr val="dk1"/>
                </a:solidFill>
              </a:rPr>
              <a:t> IR teams spend 48 hours</a:t>
            </a:r>
            <a:r>
              <a:rPr lang="en-US" sz="1400" b="1" dirty="0">
                <a:solidFill>
                  <a:schemeClr val="dk1"/>
                </a:solidFill>
              </a:rPr>
              <a:t> chasing</a:t>
            </a:r>
            <a:r>
              <a:rPr lang="en-US" sz="1400" dirty="0">
                <a:solidFill>
                  <a:schemeClr val="dk1"/>
                </a:solidFill>
              </a:rPr>
              <a:t> their tails because </a:t>
            </a:r>
            <a:r>
              <a:rPr lang="en-US" sz="1400" b="1" dirty="0">
                <a:solidFill>
                  <a:schemeClr val="dk1"/>
                </a:solidFill>
              </a:rPr>
              <a:t>they reset</a:t>
            </a:r>
            <a:r>
              <a:rPr lang="en-US" sz="1400" dirty="0">
                <a:solidFill>
                  <a:schemeClr val="dk1"/>
                </a:solidFill>
              </a:rPr>
              <a:t> the password, </a:t>
            </a:r>
            <a:r>
              <a:rPr lang="en-US" sz="1400" b="1" dirty="0">
                <a:solidFill>
                  <a:schemeClr val="dk1"/>
                </a:solidFill>
              </a:rPr>
              <a:t>changed the</a:t>
            </a:r>
            <a:r>
              <a:rPr lang="en-US" sz="1400" dirty="0">
                <a:solidFill>
                  <a:schemeClr val="dk1"/>
                </a:solidFill>
              </a:rPr>
              <a:t> MFA, and the attacker </a:t>
            </a:r>
            <a:r>
              <a:rPr lang="en-US" sz="1400" i="1" dirty="0">
                <a:solidFill>
                  <a:schemeClr val="dk1"/>
                </a:solidFill>
              </a:rPr>
              <a:t>still</a:t>
            </a:r>
            <a:r>
              <a:rPr lang="en-US" sz="1400" dirty="0">
                <a:solidFill>
                  <a:schemeClr val="dk1"/>
                </a:solidFill>
              </a:rPr>
              <a:t> sent an email </a:t>
            </a:r>
            <a:r>
              <a:rPr lang="en-US" sz="1400" b="1" dirty="0">
                <a:solidFill>
                  <a:schemeClr val="dk1"/>
                </a:solidFill>
              </a:rPr>
              <a:t>from the</a:t>
            </a:r>
            <a:r>
              <a:rPr lang="en-US" sz="1400" dirty="0">
                <a:solidFill>
                  <a:schemeClr val="dk1"/>
                </a:solidFill>
              </a:rPr>
              <a:t> CEO's account </a:t>
            </a:r>
            <a:r>
              <a:rPr lang="en-US" sz="1400" b="1" dirty="0">
                <a:solidFill>
                  <a:schemeClr val="dk1"/>
                </a:solidFill>
              </a:rPr>
              <a:t>ten minutes</a:t>
            </a:r>
            <a:r>
              <a:rPr lang="en-US" sz="1400" dirty="0">
                <a:solidFill>
                  <a:schemeClr val="dk1"/>
                </a:solidFill>
              </a:rPr>
              <a:t> later. It feels like a 'Ghost in the Machine.' </a:t>
            </a:r>
            <a:r>
              <a:rPr lang="en-US" sz="1400" b="1" dirty="0">
                <a:solidFill>
                  <a:schemeClr val="dk1"/>
                </a:solidFill>
              </a:rPr>
              <a:t>It’s</a:t>
            </a:r>
            <a:r>
              <a:rPr lang="en-US" sz="1400" dirty="0">
                <a:solidFill>
                  <a:schemeClr val="dk1"/>
                </a:solidFill>
              </a:rPr>
              <a:t> not. </a:t>
            </a:r>
            <a:r>
              <a:rPr lang="en-US" sz="1400" b="1" dirty="0">
                <a:solidFill>
                  <a:schemeClr val="dk1"/>
                </a:solidFill>
              </a:rPr>
              <a:t>It’s a</a:t>
            </a:r>
            <a:r>
              <a:rPr lang="en-US" sz="1400" dirty="0">
                <a:solidFill>
                  <a:schemeClr val="dk1"/>
                </a:solidFill>
              </a:rPr>
              <a:t> stale session. </a:t>
            </a:r>
            <a:r>
              <a:rPr lang="en-US" sz="1400" b="1" dirty="0">
                <a:solidFill>
                  <a:schemeClr val="dk1"/>
                </a:solidFill>
              </a:rPr>
              <a:t>We have</a:t>
            </a:r>
            <a:r>
              <a:rPr lang="en-US" sz="1400" dirty="0">
                <a:solidFill>
                  <a:schemeClr val="dk1"/>
                </a:solidFill>
              </a:rPr>
              <a:t> to break the habit of thinking </a:t>
            </a:r>
            <a:r>
              <a:rPr lang="en-US" sz="1400" b="1" dirty="0">
                <a:solidFill>
                  <a:schemeClr val="dk1"/>
                </a:solidFill>
              </a:rPr>
              <a:t>the 'Password'</a:t>
            </a:r>
            <a:r>
              <a:rPr lang="en-US" sz="1400" dirty="0">
                <a:solidFill>
                  <a:schemeClr val="dk1"/>
                </a:solidFill>
              </a:rPr>
              <a:t> is the soul of the account. </a:t>
            </a:r>
            <a:r>
              <a:rPr lang="en-US" sz="1400" b="1" dirty="0">
                <a:solidFill>
                  <a:schemeClr val="dk1"/>
                </a:solidFill>
              </a:rPr>
              <a:t>In the</a:t>
            </a:r>
            <a:r>
              <a:rPr lang="en-US" sz="1400" dirty="0">
                <a:solidFill>
                  <a:schemeClr val="dk1"/>
                </a:solidFill>
              </a:rPr>
              <a:t> cloud, </a:t>
            </a:r>
            <a:r>
              <a:rPr lang="en-US" sz="1400" b="1" dirty="0">
                <a:solidFill>
                  <a:schemeClr val="dk1"/>
                </a:solidFill>
              </a:rPr>
              <a:t>the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</a:rPr>
              <a:t>Session</a:t>
            </a:r>
            <a:r>
              <a:rPr lang="en-US" sz="1400" dirty="0">
                <a:solidFill>
                  <a:schemeClr val="dk1"/>
                </a:solidFill>
              </a:rPr>
              <a:t> is the soul. </a:t>
            </a:r>
            <a:r>
              <a:rPr lang="en-US" sz="1400" b="1" dirty="0">
                <a:solidFill>
                  <a:schemeClr val="dk1"/>
                </a:solidFill>
              </a:rPr>
              <a:t>If you</a:t>
            </a:r>
            <a:r>
              <a:rPr lang="en-US" sz="1400" dirty="0">
                <a:solidFill>
                  <a:schemeClr val="dk1"/>
                </a:solidFill>
              </a:rPr>
              <a:t> don't kill the session, </a:t>
            </a:r>
            <a:r>
              <a:rPr lang="en-US" sz="1400" b="1" dirty="0">
                <a:solidFill>
                  <a:schemeClr val="dk1"/>
                </a:solidFill>
              </a:rPr>
              <a:t>you haven't</a:t>
            </a:r>
            <a:r>
              <a:rPr lang="en-US" sz="1400" dirty="0">
                <a:solidFill>
                  <a:schemeClr val="dk1"/>
                </a:solidFill>
              </a:rPr>
              <a:t> evicted the tenant.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Let's</a:t>
            </a:r>
            <a:r>
              <a:rPr lang="en-US" sz="1400" dirty="0">
                <a:solidFill>
                  <a:schemeClr val="dk1"/>
                </a:solidFill>
              </a:rPr>
              <a:t> trace exactly why </a:t>
            </a:r>
            <a:r>
              <a:rPr lang="en-US" sz="1400" b="1" dirty="0">
                <a:solidFill>
                  <a:schemeClr val="dk1"/>
                </a:solidFill>
              </a:rPr>
              <a:t>an</a:t>
            </a:r>
            <a:r>
              <a:rPr lang="en-US" sz="1400" dirty="0">
                <a:solidFill>
                  <a:schemeClr val="dk1"/>
                </a:solidFill>
              </a:rPr>
              <a:t> incident response team spends </a:t>
            </a:r>
            <a:r>
              <a:rPr lang="en-US" sz="1400" b="1" dirty="0">
                <a:solidFill>
                  <a:schemeClr val="dk1"/>
                </a:solidFill>
              </a:rPr>
              <a:t>a</a:t>
            </a:r>
            <a:r>
              <a:rPr lang="en-US" sz="1400" dirty="0">
                <a:solidFill>
                  <a:schemeClr val="dk1"/>
                </a:solidFill>
              </a:rPr>
              <a:t> weekend chasing </a:t>
            </a:r>
            <a:r>
              <a:rPr lang="en-US" sz="1400" b="1" dirty="0">
                <a:solidFill>
                  <a:schemeClr val="dk1"/>
                </a:solidFill>
              </a:rPr>
              <a:t>their</a:t>
            </a:r>
            <a:r>
              <a:rPr lang="en-US" sz="1400" dirty="0">
                <a:solidFill>
                  <a:schemeClr val="dk1"/>
                </a:solidFill>
              </a:rPr>
              <a:t> tail when dealing </a:t>
            </a:r>
            <a:r>
              <a:rPr lang="en-US" sz="1400" b="1" dirty="0">
                <a:solidFill>
                  <a:schemeClr val="dk1"/>
                </a:solidFill>
              </a:rPr>
              <a:t>with</a:t>
            </a:r>
            <a:r>
              <a:rPr lang="en-US" sz="1400" dirty="0">
                <a:solidFill>
                  <a:schemeClr val="dk1"/>
                </a:solidFill>
              </a:rPr>
              <a:t> an active </a:t>
            </a:r>
            <a:r>
              <a:rPr lang="en-US" sz="1400" dirty="0" err="1">
                <a:solidFill>
                  <a:schemeClr val="dk1"/>
                </a:solidFill>
              </a:rPr>
              <a:t>AiTM</a:t>
            </a:r>
            <a:r>
              <a:rPr lang="en-US" sz="1400" dirty="0">
                <a:solidFill>
                  <a:schemeClr val="dk1"/>
                </a:solidFill>
              </a:rPr>
              <a:t> compromise. </a:t>
            </a:r>
            <a:r>
              <a:rPr lang="en-US" sz="1400" b="1" dirty="0">
                <a:solidFill>
                  <a:schemeClr val="dk1"/>
                </a:solidFill>
              </a:rPr>
              <a:t>The</a:t>
            </a:r>
            <a:r>
              <a:rPr lang="en-US" sz="1400" dirty="0">
                <a:solidFill>
                  <a:schemeClr val="dk1"/>
                </a:solidFill>
              </a:rPr>
              <a:t> alert fires: </a:t>
            </a:r>
            <a:r>
              <a:rPr lang="en-US" sz="1400" b="1" dirty="0">
                <a:solidFill>
                  <a:schemeClr val="dk1"/>
                </a:solidFill>
              </a:rPr>
              <a:t>suspicious</a:t>
            </a:r>
            <a:r>
              <a:rPr lang="en-US" sz="1400" dirty="0">
                <a:solidFill>
                  <a:schemeClr val="dk1"/>
                </a:solidFill>
              </a:rPr>
              <a:t> inbox rule created </a:t>
            </a:r>
            <a:r>
              <a:rPr lang="en-US" sz="1400" b="1" dirty="0">
                <a:solidFill>
                  <a:schemeClr val="dk1"/>
                </a:solidFill>
              </a:rPr>
              <a:t>on</a:t>
            </a:r>
            <a:r>
              <a:rPr lang="en-US" sz="1400" dirty="0">
                <a:solidFill>
                  <a:schemeClr val="dk1"/>
                </a:solidFill>
              </a:rPr>
              <a:t> an executive's mailbox. </a:t>
            </a:r>
            <a:r>
              <a:rPr lang="en-US" sz="1400" b="1" dirty="0">
                <a:solidFill>
                  <a:schemeClr val="dk1"/>
                </a:solidFill>
              </a:rPr>
              <a:t>The</a:t>
            </a:r>
            <a:r>
              <a:rPr lang="en-US" sz="1400" dirty="0">
                <a:solidFill>
                  <a:schemeClr val="dk1"/>
                </a:solidFill>
              </a:rPr>
              <a:t> responder jumps into action, </a:t>
            </a:r>
            <a:r>
              <a:rPr lang="en-US" sz="1400" b="1" dirty="0">
                <a:solidFill>
                  <a:schemeClr val="dk1"/>
                </a:solidFill>
              </a:rPr>
              <a:t>changes</a:t>
            </a:r>
            <a:r>
              <a:rPr lang="en-US" sz="1400" dirty="0">
                <a:solidFill>
                  <a:schemeClr val="dk1"/>
                </a:solidFill>
              </a:rPr>
              <a:t> the user's password, </a:t>
            </a:r>
            <a:r>
              <a:rPr lang="en-US" sz="1400" b="1" dirty="0">
                <a:solidFill>
                  <a:schemeClr val="dk1"/>
                </a:solidFill>
              </a:rPr>
              <a:t>and</a:t>
            </a:r>
            <a:r>
              <a:rPr lang="en-US" sz="1400" dirty="0">
                <a:solidFill>
                  <a:schemeClr val="dk1"/>
                </a:solidFill>
              </a:rPr>
              <a:t> enforces a </a:t>
            </a:r>
            <a:r>
              <a:rPr lang="en-US" sz="1400" b="1" dirty="0">
                <a:solidFill>
                  <a:schemeClr val="dk1"/>
                </a:solidFill>
              </a:rPr>
              <a:t>mandatory</a:t>
            </a:r>
            <a:r>
              <a:rPr lang="en-US" sz="1400" dirty="0">
                <a:solidFill>
                  <a:schemeClr val="dk1"/>
                </a:solidFill>
              </a:rPr>
              <a:t> MFA re-enrollment. </a:t>
            </a:r>
            <a:r>
              <a:rPr lang="en-US" sz="1400" b="1" dirty="0">
                <a:solidFill>
                  <a:schemeClr val="dk1"/>
                </a:solidFill>
              </a:rPr>
              <a:t>They</a:t>
            </a:r>
            <a:r>
              <a:rPr lang="en-US" sz="1400" dirty="0">
                <a:solidFill>
                  <a:schemeClr val="dk1"/>
                </a:solidFill>
              </a:rPr>
              <a:t> check the box on the ticket </a:t>
            </a:r>
            <a:r>
              <a:rPr lang="en-US" sz="1400" b="1" dirty="0">
                <a:solidFill>
                  <a:schemeClr val="dk1"/>
                </a:solidFill>
              </a:rPr>
              <a:t>and</a:t>
            </a:r>
            <a:r>
              <a:rPr lang="en-US" sz="1400" dirty="0">
                <a:solidFill>
                  <a:schemeClr val="dk1"/>
                </a:solidFill>
              </a:rPr>
              <a:t> consider </a:t>
            </a:r>
            <a:r>
              <a:rPr lang="en-US" sz="1400" b="1" dirty="0">
                <a:solidFill>
                  <a:schemeClr val="dk1"/>
                </a:solidFill>
              </a:rPr>
              <a:t>the </a:t>
            </a:r>
            <a:r>
              <a:rPr lang="en-US" sz="1400" dirty="0">
                <a:solidFill>
                  <a:schemeClr val="dk1"/>
                </a:solidFill>
              </a:rPr>
              <a:t>incident contained.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Ten</a:t>
            </a:r>
            <a:r>
              <a:rPr lang="en-US" sz="1400" dirty="0">
                <a:solidFill>
                  <a:schemeClr val="dk1"/>
                </a:solidFill>
              </a:rPr>
              <a:t> minutes later, </a:t>
            </a:r>
            <a:r>
              <a:rPr lang="en-US" sz="1400" b="1" dirty="0">
                <a:solidFill>
                  <a:schemeClr val="dk1"/>
                </a:solidFill>
              </a:rPr>
              <a:t>a secondary</a:t>
            </a:r>
            <a:r>
              <a:rPr lang="en-US" sz="1400" dirty="0">
                <a:solidFill>
                  <a:schemeClr val="dk1"/>
                </a:solidFill>
              </a:rPr>
              <a:t> mailbox rule is created, </a:t>
            </a:r>
            <a:r>
              <a:rPr lang="en-US" sz="1400" b="1" dirty="0">
                <a:solidFill>
                  <a:schemeClr val="dk1"/>
                </a:solidFill>
              </a:rPr>
              <a:t>and</a:t>
            </a:r>
            <a:r>
              <a:rPr lang="en-US" sz="1400" dirty="0">
                <a:solidFill>
                  <a:schemeClr val="dk1"/>
                </a:solidFill>
              </a:rPr>
              <a:t> data exfiltration continues. </a:t>
            </a:r>
            <a:r>
              <a:rPr lang="en-US" sz="1400" b="1" dirty="0">
                <a:solidFill>
                  <a:schemeClr val="dk1"/>
                </a:solidFill>
              </a:rPr>
              <a:t>It </a:t>
            </a:r>
            <a:r>
              <a:rPr lang="en-US" sz="1400" dirty="0">
                <a:solidFill>
                  <a:schemeClr val="dk1"/>
                </a:solidFill>
              </a:rPr>
              <a:t>feels like a rootkit; </a:t>
            </a:r>
            <a:r>
              <a:rPr lang="en-US" sz="1400" b="1" dirty="0">
                <a:solidFill>
                  <a:schemeClr val="dk1"/>
                </a:solidFill>
              </a:rPr>
              <a:t>it </a:t>
            </a:r>
            <a:r>
              <a:rPr lang="en-US" sz="1400" dirty="0">
                <a:solidFill>
                  <a:schemeClr val="dk1"/>
                </a:solidFill>
              </a:rPr>
              <a:t>feels like an advanced, </a:t>
            </a:r>
            <a:r>
              <a:rPr lang="en-US" sz="1400" b="1" dirty="0">
                <a:solidFill>
                  <a:schemeClr val="dk1"/>
                </a:solidFill>
              </a:rPr>
              <a:t>persistent</a:t>
            </a:r>
            <a:r>
              <a:rPr lang="en-US" sz="1400" dirty="0">
                <a:solidFill>
                  <a:schemeClr val="dk1"/>
                </a:solidFill>
              </a:rPr>
              <a:t> threat has infected </a:t>
            </a:r>
            <a:r>
              <a:rPr lang="en-US" sz="1400" b="1" dirty="0">
                <a:solidFill>
                  <a:schemeClr val="dk1"/>
                </a:solidFill>
              </a:rPr>
              <a:t>the firmware</a:t>
            </a:r>
            <a:r>
              <a:rPr lang="en-US" sz="1400" dirty="0">
                <a:solidFill>
                  <a:schemeClr val="dk1"/>
                </a:solidFill>
              </a:rPr>
              <a:t> of the machine. </a:t>
            </a:r>
            <a:r>
              <a:rPr lang="en-US" sz="1400" b="1" dirty="0">
                <a:solidFill>
                  <a:schemeClr val="dk1"/>
                </a:solidFill>
              </a:rPr>
              <a:t>But</a:t>
            </a:r>
            <a:r>
              <a:rPr lang="en-US" sz="1400" dirty="0">
                <a:solidFill>
                  <a:schemeClr val="dk1"/>
                </a:solidFill>
              </a:rPr>
              <a:t> it's simpler and far more devastating. </a:t>
            </a:r>
            <a:r>
              <a:rPr lang="en-US" sz="1400" b="1" dirty="0">
                <a:solidFill>
                  <a:schemeClr val="dk1"/>
                </a:solidFill>
              </a:rPr>
              <a:t>The </a:t>
            </a:r>
            <a:r>
              <a:rPr lang="en-US" sz="1400" dirty="0">
                <a:solidFill>
                  <a:schemeClr val="dk1"/>
                </a:solidFill>
              </a:rPr>
              <a:t>password change </a:t>
            </a:r>
            <a:r>
              <a:rPr lang="en-US" sz="1400" b="1" dirty="0">
                <a:solidFill>
                  <a:schemeClr val="dk1"/>
                </a:solidFill>
              </a:rPr>
              <a:t>changes</a:t>
            </a:r>
            <a:r>
              <a:rPr lang="en-US" sz="1400" dirty="0">
                <a:solidFill>
                  <a:schemeClr val="dk1"/>
                </a:solidFill>
              </a:rPr>
              <a:t> the </a:t>
            </a:r>
            <a:r>
              <a:rPr lang="en-US" sz="1400" b="1" i="1" dirty="0">
                <a:solidFill>
                  <a:schemeClr val="dk1"/>
                </a:solidFill>
              </a:rPr>
              <a:t>authentication</a:t>
            </a:r>
            <a:r>
              <a:rPr lang="en-US" sz="1400" i="1" dirty="0">
                <a:solidFill>
                  <a:schemeClr val="dk1"/>
                </a:solidFill>
              </a:rPr>
              <a:t> credential</a:t>
            </a:r>
            <a:r>
              <a:rPr lang="en-US" sz="1400" dirty="0">
                <a:solidFill>
                  <a:schemeClr val="dk1"/>
                </a:solidFill>
              </a:rPr>
              <a:t> database.</a:t>
            </a:r>
            <a:r>
              <a:rPr lang="en-US" sz="1400" b="1" dirty="0">
                <a:solidFill>
                  <a:schemeClr val="dk1"/>
                </a:solidFill>
              </a:rPr>
              <a:t> But</a:t>
            </a:r>
            <a:r>
              <a:rPr lang="en-US" sz="1400" dirty="0">
                <a:solidFill>
                  <a:schemeClr val="dk1"/>
                </a:solidFill>
              </a:rPr>
              <a:t> the active session token </a:t>
            </a:r>
            <a:r>
              <a:rPr lang="en-US" sz="1400" b="1" dirty="0">
                <a:solidFill>
                  <a:schemeClr val="dk1"/>
                </a:solidFill>
              </a:rPr>
              <a:t>floating</a:t>
            </a:r>
            <a:r>
              <a:rPr lang="en-US" sz="1400" dirty="0">
                <a:solidFill>
                  <a:schemeClr val="dk1"/>
                </a:solidFill>
              </a:rPr>
              <a:t> in the proxy </a:t>
            </a:r>
            <a:r>
              <a:rPr lang="en-US" sz="1400" b="1" dirty="0">
                <a:solidFill>
                  <a:schemeClr val="dk1"/>
                </a:solidFill>
              </a:rPr>
              <a:t>infrastructure</a:t>
            </a:r>
            <a:r>
              <a:rPr lang="en-US" sz="1400" dirty="0">
                <a:solidFill>
                  <a:schemeClr val="dk1"/>
                </a:solidFill>
              </a:rPr>
              <a:t> doesn't poll the domain controller </a:t>
            </a:r>
            <a:r>
              <a:rPr lang="en-US" sz="1400" b="1" dirty="0">
                <a:solidFill>
                  <a:schemeClr val="dk1"/>
                </a:solidFill>
              </a:rPr>
              <a:t>or</a:t>
            </a:r>
            <a:r>
              <a:rPr lang="en-US" sz="1400" dirty="0">
                <a:solidFill>
                  <a:schemeClr val="dk1"/>
                </a:solidFill>
              </a:rPr>
              <a:t> the IdP </a:t>
            </a:r>
            <a:r>
              <a:rPr lang="en-US" sz="1400" b="1" dirty="0">
                <a:solidFill>
                  <a:schemeClr val="dk1"/>
                </a:solidFill>
              </a:rPr>
              <a:t>identity</a:t>
            </a:r>
            <a:r>
              <a:rPr lang="en-US" sz="1400" dirty="0">
                <a:solidFill>
                  <a:schemeClr val="dk1"/>
                </a:solidFill>
              </a:rPr>
              <a:t> database every time</a:t>
            </a:r>
            <a:r>
              <a:rPr lang="en-US" sz="1400" b="1" dirty="0">
                <a:solidFill>
                  <a:schemeClr val="dk1"/>
                </a:solidFill>
              </a:rPr>
              <a:t> an</a:t>
            </a:r>
            <a:r>
              <a:rPr lang="en-US" sz="1400" dirty="0">
                <a:solidFill>
                  <a:schemeClr val="dk1"/>
                </a:solidFill>
              </a:rPr>
              <a:t> API call is made;</a:t>
            </a:r>
            <a:r>
              <a:rPr lang="en-US" sz="1400" b="1" dirty="0">
                <a:solidFill>
                  <a:schemeClr val="dk1"/>
                </a:solidFill>
              </a:rPr>
              <a:t> it </a:t>
            </a:r>
            <a:r>
              <a:rPr lang="en-US" sz="1400" dirty="0">
                <a:solidFill>
                  <a:schemeClr val="dk1"/>
                </a:solidFill>
              </a:rPr>
              <a:t>simply presents itself </a:t>
            </a:r>
            <a:r>
              <a:rPr lang="en-US" sz="1400" b="1" dirty="0">
                <a:solidFill>
                  <a:schemeClr val="dk1"/>
                </a:solidFill>
              </a:rPr>
              <a:t>as</a:t>
            </a:r>
            <a:r>
              <a:rPr lang="en-US" sz="1400" dirty="0">
                <a:solidFill>
                  <a:schemeClr val="dk1"/>
                </a:solidFill>
              </a:rPr>
              <a:t> a pre-approved, </a:t>
            </a:r>
            <a:r>
              <a:rPr lang="en-US" sz="1400" b="1" dirty="0">
                <a:solidFill>
                  <a:schemeClr val="dk1"/>
                </a:solidFill>
              </a:rPr>
              <a:t>stateful</a:t>
            </a:r>
            <a:r>
              <a:rPr lang="en-US" sz="1400" dirty="0">
                <a:solidFill>
                  <a:schemeClr val="dk1"/>
                </a:solidFill>
              </a:rPr>
              <a:t> pass.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Furthermore</a:t>
            </a:r>
            <a:r>
              <a:rPr lang="en-US" sz="1400" dirty="0">
                <a:solidFill>
                  <a:schemeClr val="dk1"/>
                </a:solidFill>
              </a:rPr>
              <a:t>, if that attacker used </a:t>
            </a:r>
            <a:r>
              <a:rPr lang="en-US" sz="1400" b="1" dirty="0">
                <a:solidFill>
                  <a:schemeClr val="dk1"/>
                </a:solidFill>
              </a:rPr>
              <a:t>their</a:t>
            </a:r>
            <a:r>
              <a:rPr lang="en-US" sz="1400" dirty="0">
                <a:solidFill>
                  <a:schemeClr val="dk1"/>
                </a:solidFill>
              </a:rPr>
              <a:t> initial 10-minute window of </a:t>
            </a:r>
            <a:r>
              <a:rPr lang="en-US" sz="1400" b="1" dirty="0">
                <a:solidFill>
                  <a:schemeClr val="dk1"/>
                </a:solidFill>
              </a:rPr>
              <a:t>compromise</a:t>
            </a:r>
            <a:r>
              <a:rPr lang="en-US" sz="1400" dirty="0">
                <a:solidFill>
                  <a:schemeClr val="dk1"/>
                </a:solidFill>
              </a:rPr>
              <a:t> to authorize a malicious third-party </a:t>
            </a:r>
            <a:r>
              <a:rPr lang="en-US" sz="1400" b="1" dirty="0">
                <a:solidFill>
                  <a:schemeClr val="dk1"/>
                </a:solidFill>
              </a:rPr>
              <a:t>OAuth</a:t>
            </a:r>
            <a:r>
              <a:rPr lang="en-US" sz="1400" dirty="0">
                <a:solidFill>
                  <a:schemeClr val="dk1"/>
                </a:solidFill>
              </a:rPr>
              <a:t> Enterprise App, </a:t>
            </a:r>
            <a:r>
              <a:rPr lang="en-US" sz="1400" b="1" dirty="0">
                <a:solidFill>
                  <a:schemeClr val="dk1"/>
                </a:solidFill>
              </a:rPr>
              <a:t>they</a:t>
            </a:r>
            <a:r>
              <a:rPr lang="en-US" sz="1400" dirty="0">
                <a:solidFill>
                  <a:schemeClr val="dk1"/>
                </a:solidFill>
              </a:rPr>
              <a:t> no longer even need </a:t>
            </a:r>
            <a:r>
              <a:rPr lang="en-US" sz="1400" b="1" dirty="0">
                <a:solidFill>
                  <a:schemeClr val="dk1"/>
                </a:solidFill>
              </a:rPr>
              <a:t>the</a:t>
            </a:r>
            <a:r>
              <a:rPr lang="en-US" sz="1400" dirty="0">
                <a:solidFill>
                  <a:schemeClr val="dk1"/>
                </a:solidFill>
              </a:rPr>
              <a:t> user's browser session. </a:t>
            </a:r>
            <a:r>
              <a:rPr lang="en-US" sz="1400" b="1" dirty="0">
                <a:solidFill>
                  <a:schemeClr val="dk1"/>
                </a:solidFill>
              </a:rPr>
              <a:t>They</a:t>
            </a:r>
            <a:r>
              <a:rPr lang="en-US" sz="1400" dirty="0">
                <a:solidFill>
                  <a:schemeClr val="dk1"/>
                </a:solidFill>
              </a:rPr>
              <a:t> have a direct, </a:t>
            </a:r>
            <a:r>
              <a:rPr lang="en-US" sz="1400" b="1" dirty="0">
                <a:solidFill>
                  <a:schemeClr val="dk1"/>
                </a:solidFill>
              </a:rPr>
              <a:t>programmatically</a:t>
            </a:r>
            <a:r>
              <a:rPr lang="en-US" sz="1400" dirty="0">
                <a:solidFill>
                  <a:schemeClr val="dk1"/>
                </a:solidFill>
              </a:rPr>
              <a:t> backed pipeline </a:t>
            </a:r>
            <a:r>
              <a:rPr lang="en-US" sz="1400" b="1" dirty="0">
                <a:solidFill>
                  <a:schemeClr val="dk1"/>
                </a:solidFill>
              </a:rPr>
              <a:t>into</a:t>
            </a:r>
            <a:r>
              <a:rPr lang="en-US" sz="1400" dirty="0">
                <a:solidFill>
                  <a:schemeClr val="dk1"/>
                </a:solidFill>
              </a:rPr>
              <a:t> the tenant service mesh. </a:t>
            </a:r>
            <a:r>
              <a:rPr lang="en-US" sz="1400" b="1" dirty="0">
                <a:solidFill>
                  <a:schemeClr val="dk1"/>
                </a:solidFill>
              </a:rPr>
              <a:t>You</a:t>
            </a:r>
            <a:r>
              <a:rPr lang="en-US" sz="1400" dirty="0">
                <a:solidFill>
                  <a:schemeClr val="dk1"/>
                </a:solidFill>
              </a:rPr>
              <a:t> can change </a:t>
            </a:r>
            <a:r>
              <a:rPr lang="en-US" sz="1400" b="1" dirty="0">
                <a:solidFill>
                  <a:schemeClr val="dk1"/>
                </a:solidFill>
              </a:rPr>
              <a:t>the </a:t>
            </a:r>
            <a:r>
              <a:rPr lang="en-US" sz="1400" dirty="0">
                <a:solidFill>
                  <a:schemeClr val="dk1"/>
                </a:solidFill>
              </a:rPr>
              <a:t>user's password </a:t>
            </a:r>
            <a:r>
              <a:rPr lang="en-US" sz="1400" b="1" dirty="0">
                <a:solidFill>
                  <a:schemeClr val="dk1"/>
                </a:solidFill>
              </a:rPr>
              <a:t>a hundred</a:t>
            </a:r>
            <a:r>
              <a:rPr lang="en-US" sz="1400" dirty="0">
                <a:solidFill>
                  <a:schemeClr val="dk1"/>
                </a:solidFill>
              </a:rPr>
              <a:t> times,</a:t>
            </a:r>
            <a:r>
              <a:rPr lang="en-US" sz="1400" b="1" dirty="0">
                <a:solidFill>
                  <a:schemeClr val="dk1"/>
                </a:solidFill>
              </a:rPr>
              <a:t> smash</a:t>
            </a:r>
            <a:r>
              <a:rPr lang="en-US" sz="1400" dirty="0">
                <a:solidFill>
                  <a:schemeClr val="dk1"/>
                </a:solidFill>
              </a:rPr>
              <a:t> their physical laptop </a:t>
            </a:r>
            <a:r>
              <a:rPr lang="en-US" sz="1400" b="1" dirty="0">
                <a:solidFill>
                  <a:schemeClr val="dk1"/>
                </a:solidFill>
              </a:rPr>
              <a:t>with</a:t>
            </a:r>
            <a:r>
              <a:rPr lang="en-US" sz="1400" dirty="0">
                <a:solidFill>
                  <a:schemeClr val="dk1"/>
                </a:solidFill>
              </a:rPr>
              <a:t> a hammer, </a:t>
            </a:r>
            <a:r>
              <a:rPr lang="en-US" sz="1400" b="1" dirty="0">
                <a:solidFill>
                  <a:schemeClr val="dk1"/>
                </a:solidFill>
              </a:rPr>
              <a:t>and</a:t>
            </a:r>
            <a:r>
              <a:rPr lang="en-US" sz="1400" dirty="0">
                <a:solidFill>
                  <a:schemeClr val="dk1"/>
                </a:solidFill>
              </a:rPr>
              <a:t> deploy a brand-new </a:t>
            </a:r>
            <a:r>
              <a:rPr lang="en-US" sz="1400" b="1" dirty="0">
                <a:solidFill>
                  <a:schemeClr val="dk1"/>
                </a:solidFill>
              </a:rPr>
              <a:t>corporate</a:t>
            </a:r>
            <a:r>
              <a:rPr lang="en-US" sz="1400" dirty="0">
                <a:solidFill>
                  <a:schemeClr val="dk1"/>
                </a:solidFill>
              </a:rPr>
              <a:t> image—</a:t>
            </a:r>
            <a:r>
              <a:rPr lang="en-US" sz="1400" b="1" dirty="0">
                <a:solidFill>
                  <a:schemeClr val="dk1"/>
                </a:solidFill>
              </a:rPr>
              <a:t>but</a:t>
            </a:r>
            <a:r>
              <a:rPr lang="en-US" sz="1400" dirty="0">
                <a:solidFill>
                  <a:schemeClr val="dk1"/>
                </a:solidFill>
              </a:rPr>
              <a:t> that </a:t>
            </a:r>
            <a:r>
              <a:rPr lang="en-US" sz="1400" b="1" dirty="0">
                <a:solidFill>
                  <a:schemeClr val="dk1"/>
                </a:solidFill>
              </a:rPr>
              <a:t>third-party</a:t>
            </a:r>
            <a:r>
              <a:rPr lang="en-US" sz="1400" dirty="0">
                <a:solidFill>
                  <a:schemeClr val="dk1"/>
                </a:solidFill>
              </a:rPr>
              <a:t> API token </a:t>
            </a:r>
            <a:r>
              <a:rPr lang="en-US" sz="1400" b="1" dirty="0">
                <a:solidFill>
                  <a:schemeClr val="dk1"/>
                </a:solidFill>
              </a:rPr>
              <a:t>remains</a:t>
            </a:r>
            <a:r>
              <a:rPr lang="en-US" sz="1400" dirty="0">
                <a:solidFill>
                  <a:schemeClr val="dk1"/>
                </a:solidFill>
              </a:rPr>
              <a:t> active until it is explicitly </a:t>
            </a:r>
            <a:r>
              <a:rPr lang="en-US" sz="1400" b="1" dirty="0">
                <a:solidFill>
                  <a:schemeClr val="dk1"/>
                </a:solidFill>
              </a:rPr>
              <a:t>hunted</a:t>
            </a:r>
            <a:r>
              <a:rPr lang="en-US" sz="1400" dirty="0">
                <a:solidFill>
                  <a:schemeClr val="dk1"/>
                </a:solidFill>
              </a:rPr>
              <a:t> down and purged from</a:t>
            </a:r>
            <a:r>
              <a:rPr lang="en-US" sz="1400" b="1" dirty="0">
                <a:solidFill>
                  <a:schemeClr val="dk1"/>
                </a:solidFill>
              </a:rPr>
              <a:t> the</a:t>
            </a:r>
            <a:r>
              <a:rPr lang="en-US" sz="1400" dirty="0">
                <a:solidFill>
                  <a:schemeClr val="dk1"/>
                </a:solidFill>
              </a:rPr>
              <a:t> enterprise app registry. </a:t>
            </a:r>
            <a:r>
              <a:rPr lang="en-US" sz="1400" b="1" dirty="0">
                <a:solidFill>
                  <a:schemeClr val="dk1"/>
                </a:solidFill>
              </a:rPr>
              <a:t>This is </a:t>
            </a:r>
            <a:r>
              <a:rPr lang="en-US" sz="1400" dirty="0">
                <a:solidFill>
                  <a:schemeClr val="dk1"/>
                </a:solidFill>
              </a:rPr>
              <a:t>why we have to structurally shift </a:t>
            </a:r>
            <a:r>
              <a:rPr lang="en-US" sz="1400" b="1" dirty="0">
                <a:solidFill>
                  <a:schemeClr val="dk1"/>
                </a:solidFill>
              </a:rPr>
              <a:t>our</a:t>
            </a:r>
            <a:r>
              <a:rPr lang="en-US" sz="1400" dirty="0">
                <a:solidFill>
                  <a:schemeClr val="dk1"/>
                </a:solidFill>
              </a:rPr>
              <a:t> response posture: </a:t>
            </a:r>
            <a:r>
              <a:rPr lang="en-US" sz="1400" b="1" dirty="0">
                <a:solidFill>
                  <a:schemeClr val="dk1"/>
                </a:solidFill>
              </a:rPr>
              <a:t>Eviction doesn't start at the password. Eviction starts by completely killing the token topology.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29:52 – 30:51 | Bypassing Conditional Access</a:t>
            </a:r>
            <a:r>
              <a:rPr lang="en-US" sz="1400" dirty="0">
                <a:solidFill>
                  <a:schemeClr val="dk1"/>
                </a:solidFill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>
                <a:solidFill>
                  <a:schemeClr val="dk1"/>
                </a:solidFill>
              </a:rPr>
              <a:t>Because the</a:t>
            </a:r>
            <a:r>
              <a:rPr lang="en-US" sz="1400" dirty="0">
                <a:solidFill>
                  <a:schemeClr val="dk1"/>
                </a:solidFill>
              </a:rPr>
              <a:t> attacker is using a </a:t>
            </a:r>
            <a:r>
              <a:rPr lang="en-US" sz="1400" b="1" dirty="0">
                <a:solidFill>
                  <a:schemeClr val="dk1"/>
                </a:solidFill>
              </a:rPr>
              <a:t>session</a:t>
            </a:r>
            <a:r>
              <a:rPr lang="en-US" sz="1400" dirty="0">
                <a:solidFill>
                  <a:schemeClr val="dk1"/>
                </a:solidFill>
              </a:rPr>
              <a:t> that </a:t>
            </a:r>
            <a:r>
              <a:rPr lang="en-US" sz="1400" i="1" dirty="0">
                <a:solidFill>
                  <a:schemeClr val="dk1"/>
                </a:solidFill>
              </a:rPr>
              <a:t>already passed</a:t>
            </a:r>
            <a:r>
              <a:rPr lang="en-US" sz="1400" dirty="0">
                <a:solidFill>
                  <a:schemeClr val="dk1"/>
                </a:solidFill>
              </a:rPr>
              <a:t> the MFA check, </a:t>
            </a:r>
            <a:r>
              <a:rPr lang="en-US" sz="1400" b="1" dirty="0">
                <a:solidFill>
                  <a:schemeClr val="dk1"/>
                </a:solidFill>
              </a:rPr>
              <a:t>they are</a:t>
            </a:r>
            <a:r>
              <a:rPr lang="en-US" sz="1400" dirty="0">
                <a:solidFill>
                  <a:schemeClr val="dk1"/>
                </a:solidFill>
              </a:rPr>
              <a:t> often invisible to your </a:t>
            </a:r>
            <a:r>
              <a:rPr lang="en-US" sz="1400" b="1" dirty="0">
                <a:solidFill>
                  <a:schemeClr val="dk1"/>
                </a:solidFill>
              </a:rPr>
              <a:t>Conditional Access</a:t>
            </a:r>
            <a:r>
              <a:rPr lang="en-US" sz="1400" dirty="0">
                <a:solidFill>
                  <a:schemeClr val="dk1"/>
                </a:solidFill>
              </a:rPr>
              <a:t> rules. </a:t>
            </a:r>
            <a:r>
              <a:rPr lang="en-US" sz="1400" b="1" dirty="0">
                <a:solidFill>
                  <a:schemeClr val="dk1"/>
                </a:solidFill>
              </a:rPr>
              <a:t>To your</a:t>
            </a:r>
            <a:r>
              <a:rPr lang="en-US" sz="1400" dirty="0">
                <a:solidFill>
                  <a:schemeClr val="dk1"/>
                </a:solidFill>
              </a:rPr>
              <a:t> logs, </a:t>
            </a:r>
            <a:r>
              <a:rPr lang="en-US" sz="1400" b="1" dirty="0">
                <a:solidFill>
                  <a:schemeClr val="dk1"/>
                </a:solidFill>
              </a:rPr>
              <a:t>this doesn't</a:t>
            </a:r>
            <a:r>
              <a:rPr lang="en-US" sz="1400" dirty="0">
                <a:solidFill>
                  <a:schemeClr val="dk1"/>
                </a:solidFill>
              </a:rPr>
              <a:t> look like a new login from Sweden; </a:t>
            </a:r>
            <a:r>
              <a:rPr lang="en-US" sz="1400" b="1" dirty="0">
                <a:solidFill>
                  <a:schemeClr val="dk1"/>
                </a:solidFill>
              </a:rPr>
              <a:t>it looks</a:t>
            </a:r>
            <a:r>
              <a:rPr lang="en-US" sz="1400" dirty="0">
                <a:solidFill>
                  <a:schemeClr val="dk1"/>
                </a:solidFill>
              </a:rPr>
              <a:t> like a </a:t>
            </a:r>
            <a:r>
              <a:rPr lang="en-US" sz="1400" b="1" dirty="0">
                <a:solidFill>
                  <a:schemeClr val="dk1"/>
                </a:solidFill>
              </a:rPr>
              <a:t>continued</a:t>
            </a:r>
            <a:r>
              <a:rPr lang="en-US" sz="1400" dirty="0">
                <a:solidFill>
                  <a:schemeClr val="dk1"/>
                </a:solidFill>
              </a:rPr>
              <a:t> session from a trusted user </a:t>
            </a:r>
            <a:r>
              <a:rPr lang="en-US" sz="1400" b="1" dirty="0">
                <a:solidFill>
                  <a:schemeClr val="dk1"/>
                </a:solidFill>
              </a:rPr>
              <a:t>who just</a:t>
            </a:r>
            <a:r>
              <a:rPr lang="en-US" sz="1400" dirty="0">
                <a:solidFill>
                  <a:schemeClr val="dk1"/>
                </a:solidFill>
              </a:rPr>
              <a:t> happened to </a:t>
            </a:r>
            <a:r>
              <a:rPr lang="en-US" sz="1400" b="1" dirty="0">
                <a:solidFill>
                  <a:schemeClr val="dk1"/>
                </a:solidFill>
              </a:rPr>
              <a:t>move IPs</a:t>
            </a:r>
            <a:r>
              <a:rPr lang="en-US" sz="1400" dirty="0">
                <a:solidFill>
                  <a:schemeClr val="dk1"/>
                </a:solidFill>
              </a:rPr>
              <a:t>. </a:t>
            </a:r>
            <a:r>
              <a:rPr lang="en-US" sz="1400" b="1" dirty="0">
                <a:solidFill>
                  <a:schemeClr val="dk1"/>
                </a:solidFill>
              </a:rPr>
              <a:t>The Valet</a:t>
            </a:r>
            <a:r>
              <a:rPr lang="en-US" sz="1400" dirty="0">
                <a:solidFill>
                  <a:schemeClr val="dk1"/>
                </a:solidFill>
              </a:rPr>
              <a:t> has moved the car,</a:t>
            </a:r>
            <a:r>
              <a:rPr lang="en-US" sz="1400" b="1" dirty="0">
                <a:solidFill>
                  <a:schemeClr val="dk1"/>
                </a:solidFill>
              </a:rPr>
              <a:t> changed</a:t>
            </a:r>
            <a:r>
              <a:rPr lang="en-US" sz="1400" dirty="0">
                <a:solidFill>
                  <a:schemeClr val="dk1"/>
                </a:solidFill>
              </a:rPr>
              <a:t> the plates, </a:t>
            </a:r>
            <a:r>
              <a:rPr lang="en-US" sz="1400" b="1" dirty="0">
                <a:solidFill>
                  <a:schemeClr val="dk1"/>
                </a:solidFill>
              </a:rPr>
              <a:t>and is </a:t>
            </a:r>
            <a:r>
              <a:rPr lang="en-US" sz="1400" dirty="0">
                <a:solidFill>
                  <a:schemeClr val="dk1"/>
                </a:solidFill>
              </a:rPr>
              <a:t>now part of the fleet. </a:t>
            </a:r>
            <a:r>
              <a:rPr lang="en-US" sz="1400" b="1" dirty="0">
                <a:solidFill>
                  <a:schemeClr val="dk1"/>
                </a:solidFill>
              </a:rPr>
              <a:t>So, if</a:t>
            </a:r>
            <a:r>
              <a:rPr lang="en-US" sz="1400" dirty="0">
                <a:solidFill>
                  <a:schemeClr val="dk1"/>
                </a:solidFill>
              </a:rPr>
              <a:t> the password isn't the shield, </a:t>
            </a:r>
            <a:r>
              <a:rPr lang="en-US" sz="1400" b="1" dirty="0">
                <a:solidFill>
                  <a:schemeClr val="dk1"/>
                </a:solidFill>
              </a:rPr>
              <a:t>what</a:t>
            </a:r>
            <a:r>
              <a:rPr lang="en-US" sz="1400" dirty="0">
                <a:solidFill>
                  <a:schemeClr val="dk1"/>
                </a:solidFill>
              </a:rPr>
              <a:t> is? </a:t>
            </a:r>
            <a:r>
              <a:rPr lang="en-US" sz="1400" b="1" dirty="0">
                <a:solidFill>
                  <a:schemeClr val="dk1"/>
                </a:solidFill>
              </a:rPr>
              <a:t>Let’s look</a:t>
            </a:r>
            <a:r>
              <a:rPr lang="en-US" sz="1400" dirty="0">
                <a:solidFill>
                  <a:schemeClr val="dk1"/>
                </a:solidFill>
              </a:rPr>
              <a:t> at the math </a:t>
            </a:r>
            <a:r>
              <a:rPr lang="en-US" sz="1400" b="1" dirty="0">
                <a:solidFill>
                  <a:schemeClr val="dk1"/>
                </a:solidFill>
              </a:rPr>
              <a:t>that actually</a:t>
            </a:r>
            <a:r>
              <a:rPr lang="en-US" sz="1400" dirty="0">
                <a:solidFill>
                  <a:schemeClr val="dk1"/>
                </a:solidFill>
              </a:rPr>
              <a:t> breaks the mirror.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[At the end of Slide 7, after explaining CAE and CA Bypass]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It’s a</a:t>
            </a:r>
            <a:r>
              <a:rPr lang="en-US" sz="1400" dirty="0">
                <a:solidFill>
                  <a:schemeClr val="dk1"/>
                </a:solidFill>
              </a:rPr>
              <a:t> grim picture. </a:t>
            </a:r>
            <a:r>
              <a:rPr lang="en-US" sz="1400" b="1" dirty="0">
                <a:solidFill>
                  <a:schemeClr val="dk1"/>
                </a:solidFill>
              </a:rPr>
              <a:t>We have</a:t>
            </a:r>
            <a:r>
              <a:rPr lang="en-US" sz="1400" dirty="0">
                <a:solidFill>
                  <a:schemeClr val="dk1"/>
                </a:solidFill>
              </a:rPr>
              <a:t> an attacker who can teleport cookies, </a:t>
            </a:r>
            <a:r>
              <a:rPr lang="en-US" sz="1400" b="1" dirty="0">
                <a:solidFill>
                  <a:schemeClr val="dk1"/>
                </a:solidFill>
              </a:rPr>
              <a:t>bypass </a:t>
            </a:r>
            <a:r>
              <a:rPr lang="en-US" sz="1400" dirty="0">
                <a:solidFill>
                  <a:schemeClr val="dk1"/>
                </a:solidFill>
              </a:rPr>
              <a:t>passwords, </a:t>
            </a:r>
            <a:r>
              <a:rPr lang="en-US" sz="1400" b="1" dirty="0">
                <a:solidFill>
                  <a:schemeClr val="dk1"/>
                </a:solidFill>
              </a:rPr>
              <a:t>and hide</a:t>
            </a:r>
            <a:r>
              <a:rPr lang="en-US" sz="1400" dirty="0">
                <a:solidFill>
                  <a:schemeClr val="dk1"/>
                </a:solidFill>
              </a:rPr>
              <a:t> in plain sight </a:t>
            </a:r>
            <a:r>
              <a:rPr lang="en-US" sz="1400" b="1" dirty="0">
                <a:solidFill>
                  <a:schemeClr val="dk1"/>
                </a:solidFill>
              </a:rPr>
              <a:t>for weeks</a:t>
            </a:r>
            <a:r>
              <a:rPr lang="en-US" sz="1400" dirty="0">
                <a:solidFill>
                  <a:schemeClr val="dk1"/>
                </a:solidFill>
              </a:rPr>
              <a:t>. If </a:t>
            </a:r>
            <a:r>
              <a:rPr lang="en-US" sz="1400" b="1" dirty="0">
                <a:solidFill>
                  <a:schemeClr val="dk1"/>
                </a:solidFill>
              </a:rPr>
              <a:t>you feel</a:t>
            </a:r>
            <a:r>
              <a:rPr lang="en-US" sz="1400" dirty="0">
                <a:solidFill>
                  <a:schemeClr val="dk1"/>
                </a:solidFill>
              </a:rPr>
              <a:t> like the game is rigged, </a:t>
            </a:r>
            <a:r>
              <a:rPr lang="en-US" sz="1400" b="1" dirty="0">
                <a:solidFill>
                  <a:schemeClr val="dk1"/>
                </a:solidFill>
              </a:rPr>
              <a:t>it’s because</a:t>
            </a:r>
            <a:r>
              <a:rPr lang="en-US" sz="1400" dirty="0">
                <a:solidFill>
                  <a:schemeClr val="dk1"/>
                </a:solidFill>
              </a:rPr>
              <a:t>—with our current protocols—</a:t>
            </a:r>
            <a:r>
              <a:rPr lang="en-US" sz="1400" b="1" dirty="0">
                <a:solidFill>
                  <a:schemeClr val="dk1"/>
                </a:solidFill>
              </a:rPr>
              <a:t>it is.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[Tone shift: Pivot to 'The Hero' energy. Click to Slide 8] </a:t>
            </a:r>
            <a:endParaRPr b="1" dirty="0"/>
          </a:p>
          <a:p>
            <a:pPr marL="15875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br>
              <a:rPr lang="en-US" dirty="0"/>
            </a:br>
            <a:endParaRPr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Ultimate Defense: FIDO2 &amp; Origin Binding (7:00)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30:51 – 31:05 | Transition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we aren't here to just admire the problem.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We’re here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break the cycle.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It’s time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move away from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'secrets'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toward the only thing that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actually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shatter the adversary’s mirror."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31:05 – 31:27 | The Mirror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Shatterer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 one thing home,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it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 this: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FIDO2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isn't just 'stronger MFA.'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changes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physics of the login.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'Mirror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Shatterer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.'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have to stop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to be human firewalls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start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letting the math do the work."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31:27 – 32:13 | Asymmetric Cryptography &amp; Origin Binding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attack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today works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'secret'—a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cookie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—is sent across the wire.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it’s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sent,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can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 stolen. FIDO2 uses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Asymmetric Cryptography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Your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private key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never leaves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chip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your hardware.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It’s never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sent to the server.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'Silver Bullet' is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 Binding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When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tap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key,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browser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tells the key: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'Sign this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microsoft.com.'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you’re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proxy’s microsoft-security.com,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browser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sees the difference.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tells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key the wrong name.</a:t>
            </a:r>
            <a:endParaRPr sz="140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32:13 – 33:16 | The Cryptographic Refusal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hardware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looks at its storage,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sees that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has no credentials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attacker’s fake domain,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physically refuses to sign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No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'Proceed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anyway' button.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user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error.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'Invisible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Valet' can relay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day,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cannot forge the signature.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You’ve moved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burden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security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Dave’s tired eyes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computer’s unyielding math.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We’ve secured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'Front Door.'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Now, let’s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lock the session to the machine.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[At the end of Slide 8, after explaining the Cryptographic Refusal]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FIDO2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our shield for the 'Front Door.'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ensures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login itself is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unphishable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as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security engineers,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know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'Identity' doesn't end at the login.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lives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session.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Even with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FIDO2 at the door,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still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millions of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active cookies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floating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around our environments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day."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[Click to Slide 9]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 dirty="0"/>
            </a:b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Defensive Architecture: Token Protection (7:00)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33:16 – 33:28 | Transition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need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way to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sure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those cookies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just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unphishable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login.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need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anchor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digital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identity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silicon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machine.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 sz="1400" b="0" dirty="0"/>
            </a:b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33:28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34:13 | Locking the Cookie to the Silicon (DBSC)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We’ve seen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easy it is to 'teleport' a cookie.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Bound Session Credentials (DBSC)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turning that cookie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 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'Digital Brick'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second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 leaves the laptop.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browser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creates a key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inside the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TPM 2.0 chip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motherboard.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session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cookie is now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cryptographically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tied to that specific silicon.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our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Valet steals that cookie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tries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inject it into a browser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another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country, it fails.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Why? Because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attacker’s laptop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the private key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burned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Dave's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hardware."</a:t>
            </a:r>
            <a:br>
              <a:rPr lang="en-US" sz="1400" b="0" dirty="0"/>
            </a:b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34:13 – 35:18 | The Heartbeat Check &amp; CAE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one-time check.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server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now performs a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'Heartbeat' challenge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Every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minutes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 asks: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'Do you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 have that TPM key?'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proxy can't sign—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it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can't—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session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dies.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Pair this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Access Evaluation (CAE)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Traditional security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checks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login.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CAE 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security guard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follows Dave around.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system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 'Impossible Travel' alert,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CAE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kills the session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globally in under 60 seconds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aren't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waiting for a timeout anymore;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we’re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reacting at the speed of light."</a:t>
            </a:r>
            <a:endParaRPr sz="1400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35:18 – 35:55 | The "Day 1" Reality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[Take a deep breath. Step toward the center of the stage. Look directly at the audience.]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i="0" u="none" strike="noStrike" cap="non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We</a:t>
            </a:r>
            <a:r>
              <a:rPr lang="en-US" sz="1400" dirty="0"/>
              <a:t> have gone completely under the hood</a:t>
            </a:r>
            <a:r>
              <a:rPr lang="en-US" sz="1400" b="1" dirty="0"/>
              <a:t>. We’ve </a:t>
            </a:r>
            <a:r>
              <a:rPr lang="en-US" sz="1400" dirty="0"/>
              <a:t>dismantled the engine of the proxy, </a:t>
            </a:r>
            <a:r>
              <a:rPr lang="en-US" sz="1400" b="1" dirty="0"/>
              <a:t>unmasked </a:t>
            </a:r>
            <a:r>
              <a:rPr lang="en-US" sz="1400" dirty="0"/>
              <a:t>the evasions of the bouncer, </a:t>
            </a:r>
            <a:r>
              <a:rPr lang="en-US" sz="1400" b="1" dirty="0"/>
              <a:t>and</a:t>
            </a:r>
            <a:r>
              <a:rPr lang="en-US" sz="1400" dirty="0"/>
              <a:t> built a cryptographic shield directly into the silicon of the motherboard. 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But </a:t>
            </a:r>
            <a:r>
              <a:rPr lang="en-US" sz="1400" dirty="0"/>
              <a:t>let’s be entirely honest with ourselves </a:t>
            </a:r>
            <a:r>
              <a:rPr lang="en-US" sz="1400" b="1" dirty="0"/>
              <a:t>as</a:t>
            </a:r>
            <a:r>
              <a:rPr lang="en-US" sz="1400" dirty="0"/>
              <a:t> security practitioners. </a:t>
            </a:r>
            <a:r>
              <a:rPr lang="en-US" sz="1400" b="1" dirty="0"/>
              <a:t>Technical</a:t>
            </a:r>
            <a:r>
              <a:rPr lang="en-US" sz="1400" dirty="0"/>
              <a:t> blueprints look beautiful </a:t>
            </a:r>
            <a:r>
              <a:rPr lang="en-US" sz="1400" b="1" dirty="0"/>
              <a:t>on a </a:t>
            </a:r>
            <a:r>
              <a:rPr lang="en-US" sz="1400" dirty="0"/>
              <a:t>conference screen, </a:t>
            </a:r>
            <a:r>
              <a:rPr lang="en-US" sz="1400" b="1" dirty="0"/>
              <a:t>but</a:t>
            </a:r>
            <a:r>
              <a:rPr lang="en-US" sz="1400" dirty="0"/>
              <a:t> insight without execution </a:t>
            </a:r>
            <a:r>
              <a:rPr lang="en-US" sz="1400" b="1" dirty="0"/>
              <a:t>is just </a:t>
            </a:r>
            <a:r>
              <a:rPr lang="en-US" sz="1400" dirty="0"/>
              <a:t>expensive trivia. </a:t>
            </a:r>
            <a:r>
              <a:rPr lang="en-US" sz="1400" b="1" dirty="0"/>
              <a:t>The </a:t>
            </a:r>
            <a:r>
              <a:rPr lang="en-US" sz="1400" dirty="0"/>
              <a:t>adversary isn't going to take a </a:t>
            </a:r>
            <a:r>
              <a:rPr lang="en-US" sz="1400" b="1" dirty="0"/>
              <a:t>vacation </a:t>
            </a:r>
            <a:r>
              <a:rPr lang="en-US" sz="1400" dirty="0"/>
              <a:t>because you </a:t>
            </a:r>
            <a:r>
              <a:rPr lang="en-US" sz="1400" b="1" dirty="0"/>
              <a:t>attended </a:t>
            </a:r>
            <a:r>
              <a:rPr lang="en-US" sz="1400" dirty="0"/>
              <a:t>a talk at </a:t>
            </a:r>
            <a:r>
              <a:rPr lang="en-US" sz="1400" dirty="0" err="1"/>
              <a:t>BSides</a:t>
            </a:r>
            <a:r>
              <a:rPr lang="en-US" sz="1400" dirty="0"/>
              <a:t>. 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When </a:t>
            </a:r>
            <a:r>
              <a:rPr lang="en-US" sz="1400" dirty="0"/>
              <a:t>you head back to your offices </a:t>
            </a:r>
            <a:r>
              <a:rPr lang="en-US" sz="1400" b="1" dirty="0"/>
              <a:t>on</a:t>
            </a:r>
            <a:r>
              <a:rPr lang="en-US" sz="1400" dirty="0"/>
              <a:t> Monday morning, </a:t>
            </a:r>
            <a:r>
              <a:rPr lang="en-US" sz="1400" b="1" dirty="0"/>
              <a:t>the</a:t>
            </a:r>
            <a:r>
              <a:rPr lang="en-US" sz="1400" dirty="0"/>
              <a:t> watering holes will still be waiting, </a:t>
            </a:r>
            <a:r>
              <a:rPr lang="en-US" sz="1400" b="1" dirty="0"/>
              <a:t>and </a:t>
            </a:r>
            <a:r>
              <a:rPr lang="en-US" sz="1400" dirty="0"/>
              <a:t>your users will still be clicking.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/>
              <a:t>[Click to Slide 10]</a:t>
            </a:r>
            <a:endParaRPr sz="1400"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35:55 – 36:19 | Architecture Over Awareness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We cannot train our way out of a </a:t>
            </a:r>
            <a:r>
              <a:rPr lang="en-US" b="1" dirty="0"/>
              <a:t>systemic</a:t>
            </a:r>
            <a:r>
              <a:rPr lang="en-US" dirty="0"/>
              <a:t> protocol failure. </a:t>
            </a:r>
            <a:r>
              <a:rPr lang="en-US" b="1" dirty="0"/>
              <a:t>It is </a:t>
            </a:r>
            <a:r>
              <a:rPr lang="en-US" dirty="0"/>
              <a:t>time to stop blaming Dave. </a:t>
            </a:r>
            <a:r>
              <a:rPr lang="en-US" b="1" dirty="0"/>
              <a:t>Stop asking </a:t>
            </a:r>
            <a:r>
              <a:rPr lang="en-US" dirty="0"/>
              <a:t>your engineers and your </a:t>
            </a:r>
            <a:r>
              <a:rPr lang="en-US" b="1" dirty="0"/>
              <a:t>utility</a:t>
            </a:r>
            <a:r>
              <a:rPr lang="en-US" dirty="0"/>
              <a:t> operators to act as </a:t>
            </a:r>
            <a:r>
              <a:rPr lang="en-US" b="1" dirty="0"/>
              <a:t>human</a:t>
            </a:r>
            <a:r>
              <a:rPr lang="en-US" dirty="0"/>
              <a:t> protocol analysts. </a:t>
            </a:r>
            <a:r>
              <a:rPr lang="en-US" b="1" dirty="0"/>
              <a:t>Awareness</a:t>
            </a:r>
            <a:r>
              <a:rPr lang="en-US" dirty="0"/>
              <a:t> has its place, </a:t>
            </a:r>
            <a:r>
              <a:rPr lang="en-US" b="1" dirty="0"/>
              <a:t>but</a:t>
            </a:r>
            <a:r>
              <a:rPr lang="en-US" dirty="0"/>
              <a:t> architecture is the definitive </a:t>
            </a:r>
            <a:r>
              <a:rPr lang="en-US" b="1" dirty="0"/>
              <a:t>answer. You have </a:t>
            </a:r>
            <a:r>
              <a:rPr lang="en-US" dirty="0"/>
              <a:t>the technical blueprints now. </a:t>
            </a:r>
            <a:r>
              <a:rPr lang="en-US" b="1" dirty="0"/>
              <a:t>You know </a:t>
            </a:r>
            <a:r>
              <a:rPr lang="en-US" dirty="0"/>
              <a:t>precisely how the adversary </a:t>
            </a:r>
            <a:r>
              <a:rPr lang="en-US" b="1" dirty="0"/>
              <a:t>intercepts</a:t>
            </a:r>
            <a:r>
              <a:rPr lang="en-US" dirty="0"/>
              <a:t> reality, </a:t>
            </a:r>
            <a:r>
              <a:rPr lang="en-US" b="1" dirty="0"/>
              <a:t>and you </a:t>
            </a:r>
            <a:r>
              <a:rPr lang="en-US" dirty="0"/>
              <a:t>know exactly how to lock them out of the topology. </a:t>
            </a:r>
            <a:r>
              <a:rPr lang="en-US" b="1" dirty="0"/>
              <a:t>So let’s </a:t>
            </a:r>
            <a:r>
              <a:rPr lang="en-US" dirty="0"/>
              <a:t>talk about your defensive blueprint </a:t>
            </a:r>
            <a:r>
              <a:rPr lang="en-US" b="1" dirty="0"/>
              <a:t>for</a:t>
            </a:r>
            <a:r>
              <a:rPr lang="en-US" dirty="0"/>
              <a:t> immediate operational </a:t>
            </a:r>
            <a:r>
              <a:rPr lang="en-US" b="1" dirty="0"/>
              <a:t>eviction.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36:19 – 36:57 | The Monday Checklist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dirty="0"/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When you log into your environments on Monday morning,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three immediate things: </a:t>
            </a:r>
          </a:p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387350" indent="-228600">
              <a:buAutoNum type="arabicPeriod"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Audit your Admins.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Check your high-value targets.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your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Tier-0 Global Admins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are not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explicitly gated behind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hardware-enforced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FIDO2 keys,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your front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door is wide open to an identity clone. </a:t>
            </a:r>
          </a:p>
          <a:p>
            <a:pPr marL="387350" indent="-228600">
              <a:buAutoNum type="arabicPeriod"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2. Update your Incident Response Playbook.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Erase the old legacy sequence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Step 1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 no longer 'Reset Password.' Step 1 must be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'Revoke All Active Sessions.'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 have to structurally kill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active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token topology </a:t>
            </a:r>
            <a:r>
              <a:rPr lang="en-US" sz="1100" b="1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you modify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credential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database. </a:t>
            </a:r>
          </a:p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3. Deploy Token Protection.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Stop treating cookies as portable cash.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Leverage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TPM 2.0 silicon chips you’ve already paid for on your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enterprise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motherboards and bind your identity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infrastructure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directly to the physical hardware."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36:57 – 37:12 | Final Word</a:t>
            </a:r>
            <a:endParaRPr sz="1400" b="0" dirty="0"/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'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Same Watering Holes'—SharePoint, Teams, and Outlook—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are not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going anywhere.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They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will be there on Monday,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adversary will be waiting inside them.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 as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 today,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possess the engineering blueprints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required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 drain them. </a:t>
            </a:r>
          </a:p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Thank you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BSides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Harrisburg. My name is Joel Prentice, and I’ll be hanging out at the back of the room for any questions.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1. The "Bypass" Questions (The Skeptics)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Question:</a:t>
            </a:r>
            <a:r>
              <a:rPr lang="en-US"/>
              <a:t> </a:t>
            </a:r>
            <a:r>
              <a:rPr lang="en-US" i="1"/>
              <a:t>"If I use FIDO2, can't the attacker just proxy the initial registration process?"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b="1"/>
              <a:t>Answer:</a:t>
            </a:r>
            <a:r>
              <a:rPr lang="en-US"/>
              <a:t> "Yes, if a user is tricked into registering a new key on a malicious site. This is why we push for </a:t>
            </a:r>
            <a:r>
              <a:rPr lang="en-US" b="1"/>
              <a:t>Attestation</a:t>
            </a:r>
            <a:r>
              <a:rPr lang="en-US"/>
              <a:t>. We can configure our IdP to only accept keys from specific, trusted hardware batches (like Yubico or Nitrokey), making it much harder for a software-based 'virtual' key to be registered by an attacker."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Question:</a:t>
            </a:r>
            <a:r>
              <a:rPr lang="en-US"/>
              <a:t> </a:t>
            </a:r>
            <a:r>
              <a:rPr lang="en-US" i="1"/>
              <a:t>"What about Token Protection (DBSC)? Can't an attacker just use a 'Remote Access Trojan' (RAT) to use the cookie while it's still on the victim's machine?"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b="1"/>
              <a:t>Answer:</a:t>
            </a:r>
            <a:r>
              <a:rPr lang="en-US"/>
              <a:t> "Exactly. DBSC stops </a:t>
            </a:r>
            <a:r>
              <a:rPr lang="en-US" b="1"/>
              <a:t>Token Theft</a:t>
            </a:r>
            <a:r>
              <a:rPr lang="en-US"/>
              <a:t> (teleporting the cookie), but it doesn't stop </a:t>
            </a:r>
            <a:r>
              <a:rPr lang="en-US" b="1"/>
              <a:t>Session Hijacking</a:t>
            </a:r>
            <a:r>
              <a:rPr lang="en-US"/>
              <a:t> via a RAT. However, a RAT is much 'louder' and harder to scale than a simple proxy link. We're forcing the attacker to move from a cheap, scalable web-attack to a high-cost endpoint-compromise attack."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2. The "Implementation" Questions (The Architects)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Question:</a:t>
            </a:r>
            <a:r>
              <a:rPr lang="en-US"/>
              <a:t> </a:t>
            </a:r>
            <a:r>
              <a:rPr lang="en-US" i="1"/>
              <a:t>"FIDO2 is great, but how do I handle my users who refuse to use a hardware key or have 'Legacy' apps?"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b="1"/>
              <a:t>Answer:</a:t>
            </a:r>
            <a:r>
              <a:rPr lang="en-US"/>
              <a:t> "It’s a journey. You start with your </a:t>
            </a:r>
            <a:r>
              <a:rPr lang="en-US" b="1"/>
              <a:t>Tier 0 admins</a:t>
            </a:r>
            <a:r>
              <a:rPr lang="en-US"/>
              <a:t> (Global Admins, Entra Admins). They are the high-value targets. For the rest of the fleet, we look at </a:t>
            </a:r>
            <a:r>
              <a:rPr lang="en-US" b="1"/>
              <a:t>Microsoft Authenticator with Number Matching and GPS context</a:t>
            </a:r>
            <a:r>
              <a:rPr lang="en-US"/>
              <a:t>, which isn't 'unphishable' but significantly raises the bar compared to a simple 'Approve' button."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Question:</a:t>
            </a:r>
            <a:r>
              <a:rPr lang="en-US"/>
              <a:t> </a:t>
            </a:r>
            <a:r>
              <a:rPr lang="en-US" i="1"/>
              <a:t>"Is Token Protection (DBSC) ready for prime time right now?"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b="1"/>
              <a:t>Answer:</a:t>
            </a:r>
            <a:r>
              <a:rPr lang="en-US"/>
              <a:t> "It's in 'Public Preview' for many Microsoft tenants. You can start testing it with Entra ID and Chrome/Edge today. The goal for Monday isn't to flip the switch for the whole company, but to start a </a:t>
            </a:r>
            <a:r>
              <a:rPr lang="en-US" b="1"/>
              <a:t>Pilot Group</a:t>
            </a:r>
            <a:r>
              <a:rPr lang="en-US"/>
              <a:t> for your most sensitive roles."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3. The "Detection" Questions (The SOC Analysts)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Question:</a:t>
            </a:r>
            <a:r>
              <a:rPr lang="en-US"/>
              <a:t> </a:t>
            </a:r>
            <a:r>
              <a:rPr lang="en-US" i="1"/>
              <a:t>"If the attacker is using a Residential Proxy, what logs should I actually be looking at to spot this?"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b="1"/>
              <a:t>Answer:</a:t>
            </a:r>
            <a:r>
              <a:rPr lang="en-US"/>
              <a:t> "Look at the </a:t>
            </a:r>
            <a:r>
              <a:rPr lang="en-US" b="1"/>
              <a:t>User Agent strings</a:t>
            </a:r>
            <a:r>
              <a:rPr lang="en-US"/>
              <a:t> and </a:t>
            </a:r>
            <a:r>
              <a:rPr lang="en-US" b="1"/>
              <a:t>JA4 fingerprints</a:t>
            </a:r>
            <a:r>
              <a:rPr lang="en-US"/>
              <a:t> in your sign-in logs. If you see 'Dave' suddenly change from his standard 'Windows/Chrome' fingerprint to something even slightly different—or if the 'MFA Method' used doesn't match the risk level of the application—that’s your smoking gun. Also, look for 'New Office Add-ins' or 'Mailbox Forwarding Rules' created immediately after a login."</a:t>
            </a: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4. The "Dave" Questions (The Human Element)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b="1"/>
              <a:t>Question:</a:t>
            </a:r>
            <a:r>
              <a:rPr lang="en-US"/>
              <a:t> </a:t>
            </a:r>
            <a:r>
              <a:rPr lang="en-US" i="1"/>
              <a:t>"If we can't train our way out of this, should we stop doing Phishing Simulations?"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b="1"/>
              <a:t>Answer:</a:t>
            </a:r>
            <a:r>
              <a:rPr lang="en-US"/>
              <a:t> "We shouldn't stop, but we should </a:t>
            </a:r>
            <a:r>
              <a:rPr lang="en-US" b="1"/>
              <a:t>reframe</a:t>
            </a:r>
            <a:r>
              <a:rPr lang="en-US"/>
              <a:t> them. Stop testing if Dave 'clicks.' Start testing if Dave 'reports.' Our goal isn't a 0% click rate; it's a 100% reporting rate so the SOC can burn the infrastructure before the second person clicks."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descr="Phishing: Same Watering Holes, New Lures &#10;&#10;Evolving Tactics in an Age-Old Attack Vector &#10;&#10;Joel Prentice eCPPT&#10;&#10;BSides 2026&#10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89"/>
    </mc:Choice>
    <mc:Fallback>
      <p:transition spd="slow" advTm="35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" descr="The Fall of Legacy MFA&#10;Visual:&#10;&#10;Content: * Push Notifications &amp; OTP: The &quot;Illusory Security.&quot;&#10;&#10;The Token is the Target: Why passwords don't matter anymore.&#10;&#10;The &quot;Invisible&quot; Proxy: How the user sees the real sit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" descr="Technical Mechanics of Evilginx&#10;&#10;Phishlets: The &quot;Blueprints&quot; for proxying specific sites.&#10;&#10;Lures: Custom URL generation and tracking.&#10;&#10;The Reverse Proxy Engine: Handling real-time traffic manipulatio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" descr="Advanced Evasion (The 2026 Landscape)&#10;&#10;Botguard &amp; JA4 Fingerprinting: Blocking security scanners.&#10;&#10;CSS Canary Tokens: Detecting if the site is being analyzed.&#10;&#10;Wildcard TLS &amp; Transparency Evasio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The Attack Walkthrough - Phase 1: The Lure&#10;&#10;Infrastructure Setup: VPS, Domain, and Cloudflare.&#10;&#10;Pretexting with AI: Crafting the perfect, error-free lure.&#10;&#10;Multi-Channel Delivery: SMS (Smishing) vs. Email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 descr="The Attack Walkthrough - Phase 2: The Capture&#10;&#10;The Proxy Handshake: Handling 2FA prompts in real-time.&#10;&#10;Bypassing &quot;Push&quot; and &quot;Number Matching.&quot;&#10;&#10;The Jackpot: Capturing the JSON Web Token (JWT) or Session Cooki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Format in the same way as  the previous slides: Post-Compromise - What Happens with the Token?&#10;Content:&#10;&#10;Token Replay Attacks: Using the cookie on a different machine.&#10;&#10;Lateral Movement: Accessing SharePoint, Teams, and Email.&#10;&#10;Persistence: How attackers stay in even if you change your password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8" descr="format in accordance with previous slides: Visual: [Image comparing OTP/Push vs. FIDO2/WebAuthn architecture]&#10;&#10;Content:&#10;&#10;FIDO2/WebAuthn: The only true defense.&#10;&#10;Passkeys: Why device-bound credentials win.&#10;&#10;Token Binding: Making cookies useless on other device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28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 descr="Format in accordance with previous slides: Defensive Architecture &amp; Detection&#10;Content:&#10;&#10;Conditional Access (CA): Geographic and device compliance filters.&#10;&#10;Monitoring for Impossible Travel: Detecting session hijacking.&#10;&#10;Browser Isolation: Neutralizing the proxy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 descr="Format in accordance with previous slides: Conclusion &amp; Call to Action&#10;Content:&#10;&#10;Audit Your Privileged Accounts: Move Admins to FIDO2 today.&#10;&#10;Update Incident Response: How to revoke session tokens instantly.&#10;&#10;The Future: AI-on-AI Phishing warfa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1" title="gi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628650"/>
            <a:ext cx="3238500" cy="194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4584</TotalTime>
  <Words>6641</Words>
  <Application>Microsoft Office PowerPoint</Application>
  <PresentationFormat>On-screen Show (16:9)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Prentice, Joel</cp:lastModifiedBy>
  <cp:revision>11</cp:revision>
  <dcterms:modified xsi:type="dcterms:W3CDTF">2026-05-22T19:28:01Z</dcterms:modified>
</cp:coreProperties>
</file>