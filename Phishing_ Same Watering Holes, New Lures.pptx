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Hook:</a:t>
            </a:r>
            <a:r>
              <a:rPr lang="en">
                <a:solidFill>
                  <a:schemeClr val="dk1"/>
                </a:solidFill>
              </a:rPr>
              <a:t> Start with a bold claim: "In 2026, traditional MFA is no longer a 'security' feature—it’s a speed bump."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Context:</a:t>
            </a:r>
            <a:r>
              <a:rPr lang="en">
                <a:solidFill>
                  <a:schemeClr val="dk1"/>
                </a:solidFill>
              </a:rPr>
              <a:t> Mention that Microsoft’s recent Digital Defense Report shows 40,000 AiTM incidents </a:t>
            </a:r>
            <a:r>
              <a:rPr i="1" lang="en">
                <a:solidFill>
                  <a:schemeClr val="dk1"/>
                </a:solidFill>
              </a:rPr>
              <a:t>daily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Shift:</a:t>
            </a:r>
            <a:r>
              <a:rPr lang="en">
                <a:solidFill>
                  <a:schemeClr val="dk1"/>
                </a:solidFill>
              </a:rPr>
              <a:t> Explain that we are moving from "Credential Harvesting" (stealing passwords) to "Session Hijacking" (stealing the keys to the kingdom).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76274e5ff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76274e5ff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 Reality Check:</a:t>
            </a:r>
            <a:r>
              <a:rPr lang="en">
                <a:solidFill>
                  <a:schemeClr val="dk1"/>
                </a:solidFill>
              </a:rPr>
              <a:t> Explain that attackers don't care about your 16-character password if they can just walk through the door you already unlocked.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Mechanism:</a:t>
            </a:r>
            <a:r>
              <a:rPr lang="en">
                <a:solidFill>
                  <a:schemeClr val="dk1"/>
                </a:solidFill>
              </a:rPr>
              <a:t> Briefly describe the transparent proxy. The user isn't looking at a "fake" site; they are looking at the </a:t>
            </a:r>
            <a:r>
              <a:rPr i="1" lang="en">
                <a:solidFill>
                  <a:schemeClr val="dk1"/>
                </a:solidFill>
              </a:rPr>
              <a:t>real</a:t>
            </a:r>
            <a:r>
              <a:rPr lang="en">
                <a:solidFill>
                  <a:schemeClr val="dk1"/>
                </a:solidFill>
              </a:rPr>
              <a:t> Microsoft/Okta/Google login page through a window controlled by the attacker.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Vulnerability:</a:t>
            </a:r>
            <a:r>
              <a:rPr lang="en">
                <a:solidFill>
                  <a:schemeClr val="dk1"/>
                </a:solidFill>
              </a:rPr>
              <a:t> The core issue isn't a "bug" in MFA; it’s a design feature of the web—the session cookie. Once that cookie is issued, it's a single-factor token.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76274e5ff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76274e5ff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Phishlets Deep Dive:</a:t>
            </a:r>
            <a:r>
              <a:rPr lang="en">
                <a:solidFill>
                  <a:schemeClr val="dk1"/>
                </a:solidFill>
              </a:rPr>
              <a:t> Explain how phishlets work. They are YAML files that tell Evilginx exactly which cookies to capture and which URLs to proxy.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Real-time Injection:</a:t>
            </a:r>
            <a:r>
              <a:rPr lang="en">
                <a:solidFill>
                  <a:schemeClr val="dk1"/>
                </a:solidFill>
              </a:rPr>
              <a:t> Discuss how Evilginx can inject custom JavaScript into the legitimate page to hide security warnings or modify the UI.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Stealth:</a:t>
            </a:r>
            <a:r>
              <a:rPr lang="en">
                <a:solidFill>
                  <a:schemeClr val="dk1"/>
                </a:solidFill>
              </a:rPr>
              <a:t> Mention how Evilginx handles certificates (TLS) and how it can automatically generate valid Let's Encrypt certificates to get the "green padlock."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76274e5ff_3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76274e5ff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Anti-Analysis:</a:t>
            </a:r>
            <a:r>
              <a:rPr lang="en">
                <a:solidFill>
                  <a:schemeClr val="dk1"/>
                </a:solidFill>
              </a:rPr>
              <a:t> Attackers now use "Botguard" (pioneered in Evilginx Pro) to fingerprint browsers. If a request looks like a security scanner or an automated sandbox, Evilginx serves a "decoy" site (like a harmless blog) while serving the real lure to the victim.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Wildcard Bypass:</a:t>
            </a:r>
            <a:r>
              <a:rPr lang="en">
                <a:solidFill>
                  <a:schemeClr val="dk1"/>
                </a:solidFill>
              </a:rPr>
              <a:t> Explain how using wildcard certificates prevents the specific phishing subdomain from appearing in public Certificate Transparency logs, keeping the "lure" hidden from threat hunters for longer.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76274e5ff_3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76274e5ff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Speed to Market:</a:t>
            </a:r>
            <a:r>
              <a:rPr lang="en">
                <a:solidFill>
                  <a:schemeClr val="dk1"/>
                </a:solidFill>
              </a:rPr>
              <a:t> In 2026, an attacker can spin up a fully functional Evilginx instance in under 10 minutes.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AI-Enhanced Lures:</a:t>
            </a:r>
            <a:r>
              <a:rPr lang="en">
                <a:solidFill>
                  <a:schemeClr val="dk1"/>
                </a:solidFill>
              </a:rPr>
              <a:t> Mention how LLMs are used to generate perfectly formatted corporate emails that match the target company's tone and brand guidelines.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QR Code Lure:</a:t>
            </a:r>
            <a:r>
              <a:rPr lang="en">
                <a:solidFill>
                  <a:schemeClr val="dk1"/>
                </a:solidFill>
              </a:rPr>
              <a:t> Briefly discuss the rise of "Quishing"—using QR codes in emails to force users onto mobile devices, which often have weaker visibility and security controls.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76274e5ff_3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76274e5ff_3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Number Matching? No Problem:</a:t>
            </a:r>
            <a:r>
              <a:rPr lang="en">
                <a:solidFill>
                  <a:schemeClr val="dk1"/>
                </a:solidFill>
              </a:rPr>
              <a:t> Explain that because the proxy is real-time, the user sees the number on the Evilginx site, looks at their phone, and enters it. It is perfectly proxied to the real service.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Moment of Success:</a:t>
            </a:r>
            <a:r>
              <a:rPr lang="en">
                <a:solidFill>
                  <a:schemeClr val="dk1"/>
                </a:solidFill>
              </a:rPr>
              <a:t> Describe the "Success Redirect." Once the cookie is captured, Evilginx redirects the user to the </a:t>
            </a:r>
            <a:r>
              <a:rPr i="1" lang="en">
                <a:solidFill>
                  <a:schemeClr val="dk1"/>
                </a:solidFill>
              </a:rPr>
              <a:t>actual</a:t>
            </a:r>
            <a:r>
              <a:rPr lang="en">
                <a:solidFill>
                  <a:schemeClr val="dk1"/>
                </a:solidFill>
              </a:rPr>
              <a:t> internal site. The user thinks they just had to log in twice—they have no idea they’ve been compromised.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76274e5ff_3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76274e5ff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Bypass:</a:t>
            </a:r>
            <a:r>
              <a:rPr lang="en">
                <a:solidFill>
                  <a:schemeClr val="dk1"/>
                </a:solidFill>
              </a:rPr>
              <a:t> The attacker takes that session cookie, imports it into their own browser, and is instantly logged in as the user. No password or MFA needed.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Persistence:</a:t>
            </a:r>
            <a:r>
              <a:rPr lang="en">
                <a:solidFill>
                  <a:schemeClr val="dk1"/>
                </a:solidFill>
              </a:rPr>
              <a:t> Changing the password does </a:t>
            </a:r>
            <a:r>
              <a:rPr i="1" lang="en">
                <a:solidFill>
                  <a:schemeClr val="dk1"/>
                </a:solidFill>
              </a:rPr>
              <a:t>not</a:t>
            </a:r>
            <a:r>
              <a:rPr lang="en">
                <a:solidFill>
                  <a:schemeClr val="dk1"/>
                </a:solidFill>
              </a:rPr>
              <a:t> always invalidate existing session tokens. An attacker can often stay in for 8–24 hours, or longer if they can "refresh" the token.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API Access:</a:t>
            </a:r>
            <a:r>
              <a:rPr lang="en">
                <a:solidFill>
                  <a:schemeClr val="dk1"/>
                </a:solidFill>
              </a:rPr>
              <a:t> Discuss how captured tokens are used to scrape data via Graph API or other internal APIs.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76274e5ff_3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76274e5ff_3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Cryptographic Binding:</a:t>
            </a:r>
            <a:r>
              <a:rPr lang="en">
                <a:solidFill>
                  <a:schemeClr val="dk1"/>
                </a:solidFill>
              </a:rPr>
              <a:t> Explain why FIDO2 (YubiKeys, Windows Hello) works. The browser and the hardware key negotiate directly with the </a:t>
            </a:r>
            <a:r>
              <a:rPr i="1" lang="en">
                <a:solidFill>
                  <a:schemeClr val="dk1"/>
                </a:solidFill>
              </a:rPr>
              <a:t>origin</a:t>
            </a:r>
            <a:r>
              <a:rPr lang="en">
                <a:solidFill>
                  <a:schemeClr val="dk1"/>
                </a:solidFill>
              </a:rPr>
              <a:t> (the real domain). If the domain is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microsoft-login-evil.com</a:t>
            </a:r>
            <a:r>
              <a:rPr lang="en">
                <a:solidFill>
                  <a:schemeClr val="dk1"/>
                </a:solidFill>
              </a:rPr>
              <a:t>, the hardware key simply refuses to sign the challenge.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 "Downgrade" Risk:</a:t>
            </a:r>
            <a:r>
              <a:rPr lang="en">
                <a:solidFill>
                  <a:schemeClr val="dk1"/>
                </a:solidFill>
              </a:rPr>
              <a:t> Warn the audience that attackers will try to "downgrade" users. If FIDO fails, they'll prompt: "Security Key not recognized, use SMS instead?" This is where the human element must be trained.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76274e5ff_3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76274e5ff_3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Conditional Access:</a:t>
            </a:r>
            <a:r>
              <a:rPr lang="en">
                <a:solidFill>
                  <a:schemeClr val="dk1"/>
                </a:solidFill>
              </a:rPr>
              <a:t> If a session token for a PA resident suddenly appears from a VPS in Germany, CA should kill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Detection:</a:t>
            </a:r>
            <a:r>
              <a:rPr lang="en">
                <a:solidFill>
                  <a:schemeClr val="dk1"/>
                </a:solidFill>
              </a:rPr>
              <a:t> Mention monitoring for "New Device Registered" or "Token Replayed from New IP."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Managed Browsers:</a:t>
            </a:r>
            <a:r>
              <a:rPr lang="en">
                <a:solidFill>
                  <a:schemeClr val="dk1"/>
                </a:solidFill>
              </a:rPr>
              <a:t> Discuss how forcing users through a managed browser or a VDI (Virtual Desktop) can prevent them from ever reaching an external proxy.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76274e5ff_3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76274e5ff_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Your IT admins and C-suite need hardware keys </a:t>
            </a:r>
            <a:r>
              <a:rPr i="1" lang="en">
                <a:solidFill>
                  <a:schemeClr val="dk1"/>
                </a:solidFill>
              </a:rPr>
              <a:t>today</a:t>
            </a:r>
            <a:r>
              <a:rPr lang="en">
                <a:solidFill>
                  <a:schemeClr val="dk1"/>
                </a:solidFill>
              </a:rPr>
              <a:t>. They are the "Whaling" targets for Evilginx.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Final Thought:</a:t>
            </a:r>
            <a:r>
              <a:rPr lang="en">
                <a:solidFill>
                  <a:schemeClr val="dk1"/>
                </a:solidFill>
              </a:rPr>
              <a:t> We can't stop users from clicking, but we can make the click meaningless by using phishing-resistant infrastructure.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76274e5ff_3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76274e5ff_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Open for questions.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 ready for: "How much does Evilginx Pro cost?", "Does this work on mobile?", and "How do I revoke tokens in Entra ID?"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hishing: Same Watering Holes, New Lures &#10;&#10;Evolving Tactics in an Age-Old Attack Vector &#10;&#10;Joel Prentice eCPPT&#10;&#10;BSides 2026&#10;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Fall of Legacy MFA&#10;Visual:&#10;&#10;Content: * Push Notifications &amp; OTP: The &quot;Illusory Security.&quot;&#10;&#10;The Token is the Target: Why passwords don't matter anymore.&#10;&#10;The &quot;Invisible&quot; Proxy: How the user sees the real site.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chnical Mechanics of Evilginx&#10;&#10;Phishlets: The &quot;Blueprints&quot; for proxying specific sites.&#10;&#10;Lures: Custom URL generation and tracking.&#10;&#10;The Reverse Proxy Engine: Handling real-time traffic manipulation.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vanced Evasion (The 2026 Landscape)&#10;&#10;Botguard &amp; JA4 Fingerprinting: Blocking security scanners.&#10;&#10;CSS Canary Tokens: Detecting if the site is being analyzed.&#10;&#10;Wildcard TLS &amp; Transparency Evasion.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Attack Walkthrough - Phase 1: The Lure&#10;&#10;Infrastructure Setup: VPS, Domain, and Cloudflare.&#10;&#10;Pretexting with AI: Crafting the perfect, error-free lure.&#10;&#10;Multi-Channel Delivery: SMS (Smishing) vs. Email.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Attack Walkthrough - Phase 2: The Capture&#10;&#10;The Proxy Handshake: Handling 2FA prompts in real-time.&#10;&#10;Bypassing &quot;Push&quot; and &quot;Number Matching.&quot;&#10;&#10;The Jackpot: Capturing the JSON Web Token (JWT) or Session Cookie.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t in the same way as  the previous slides: Post-Compromise - What Happens with the Token?&#10;Content:&#10;&#10;Token Replay Attacks: Using the cookie on a different machine.&#10;&#10;Lateral Movement: Accessing SharePoint, Teams, and Email.&#10;&#10;Persistence: How attackers stay in even if you change your password.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t in accordance with previous slides: Visual: [Image comparing OTP/Push vs. FIDO2/WebAuthn architecture]&#10;&#10;Content:&#10;&#10;FIDO2/WebAuthn: The only true defense.&#10;&#10;Passkeys: Why device-bound credentials win.&#10;&#10;Token Binding: Making cookies useless on other devices.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28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t in accordance with previous slides: Defensive Architecture &amp; Detection&#10;Content:&#10;&#10;Conditional Access (CA): Geographic and device compliance filters.&#10;&#10;Monitoring for Impossible Travel: Detecting session hijacking.&#10;&#10;Browser Isolation: Neutralizing the proxy.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t in accordance with previous slides: Conclusion &amp; Call to Action&#10;Content:&#10;&#10;Audit Your Privileged Accounts: Move Admins to FIDO2 today.&#10;&#10;Update Incident Response: How to revoke session tokens instantly.&#10;&#10;The Future: AI-on-AI Phishing warfare.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title="gi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75" y="628650"/>
            <a:ext cx="3238500" cy="194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